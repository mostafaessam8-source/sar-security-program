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778B"/>
                </a:solidFill>
                <a:latin typeface="Diodrum Arabic"/>
              </a:defRPr>
            </a:pPr>
            <a:r>
              <a:rPr sz="1000" b="0" i="0" u="none" strike="noStrike">
                <a:solidFill>
                  <a:srgbClr val="00778B"/>
                </a:solidFill>
                <a:latin typeface="Diodrum Arabic"/>
              </a:rPr>
              <a:t>SAR M invoiced per month, by railway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NSR</c:v>
                </c:pt>
              </c:strCache>
            </c:strRef>
          </c:tx>
          <c:spPr>
            <a:solidFill>
              <a:srgbClr val="0077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Sheet1!$A$2:$A$37</c:f>
              <c:multiLvlStrCache>
                <c:ptCount val="3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0</c:v>
                </c:pt>
                <c:pt idx="1">
                  <c:v>4.1</c:v>
                </c:pt>
                <c:pt idx="2">
                  <c:v>0</c:v>
                </c:pt>
                <c:pt idx="3">
                  <c:v>0.348</c:v>
                </c:pt>
                <c:pt idx="4">
                  <c:v>0.348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0.696</c:v>
                </c:pt>
                <c:pt idx="9">
                  <c:v>0</c:v>
                </c:pt>
                <c:pt idx="10">
                  <c:v>1.044</c:v>
                </c:pt>
                <c:pt idx="11">
                  <c:v>0</c:v>
                </c:pt>
                <c:pt idx="12">
                  <c:v>0.688</c:v>
                </c:pt>
                <c:pt idx="13">
                  <c:v>0.34</c:v>
                </c:pt>
                <c:pt idx="14">
                  <c:v>0.68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0.68</c:v>
                </c:pt>
                <c:pt idx="19">
                  <c:v>1.36</c:v>
                </c:pt>
                <c:pt idx="20">
                  <c:v>0.34</c:v>
                </c:pt>
                <c:pt idx="21">
                  <c:v>1.02</c:v>
                </c:pt>
                <c:pt idx="22">
                  <c:v>1.02</c:v>
                </c:pt>
                <c:pt idx="23">
                  <c:v>0</c:v>
                </c:pt>
                <c:pt idx="24">
                  <c:v>0.682</c:v>
                </c:pt>
                <c:pt idx="25">
                  <c:v>0.342</c:v>
                </c:pt>
                <c:pt idx="26">
                  <c:v>0.68</c:v>
                </c:pt>
                <c:pt idx="27">
                  <c:v>0.68</c:v>
                </c:pt>
                <c:pt idx="28">
                  <c:v>0.68</c:v>
                </c:pt>
                <c:pt idx="29">
                  <c:v>0.34</c:v>
                </c:pt>
                <c:pt idx="30">
                  <c:v>0.685</c:v>
                </c:pt>
                <c:pt idx="31">
                  <c:v>1.704</c:v>
                </c:pt>
                <c:pt idx="32">
                  <c:v>0.342</c:v>
                </c:pt>
                <c:pt idx="33">
                  <c:v>0.68</c:v>
                </c:pt>
                <c:pt idx="34">
                  <c:v>0.682</c:v>
                </c:pt>
                <c:pt idx="35">
                  <c:v>0.34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EWR</c:v>
                </c:pt>
              </c:strCache>
            </c:strRef>
          </c:tx>
          <c:spPr>
            <a:solidFill>
              <a:srgbClr val="F1B4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Sheet1!$A$2:$A$37</c:f>
              <c:multiLvlStrCache>
                <c:ptCount val="3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0</c:v>
                </c:pt>
                <c:pt idx="1">
                  <c:v>2.223</c:v>
                </c:pt>
                <c:pt idx="2">
                  <c:v>0</c:v>
                </c:pt>
                <c:pt idx="3">
                  <c:v>0.309</c:v>
                </c:pt>
                <c:pt idx="4">
                  <c:v>0.309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0.618</c:v>
                </c:pt>
                <c:pt idx="10">
                  <c:v>1.256</c:v>
                </c:pt>
                <c:pt idx="11">
                  <c:v>0.309</c:v>
                </c:pt>
                <c:pt idx="12">
                  <c:v>0.283</c:v>
                </c:pt>
                <c:pt idx="13">
                  <c:v>0.592</c:v>
                </c:pt>
                <c:pt idx="14">
                  <c:v>0</c:v>
                </c:pt>
                <c:pt idx="15">
                  <c:v>0</c:v>
                </c:pt>
                <c:pt idx="16">
                  <c:v>0.638</c:v>
                </c:pt>
                <c:pt idx="17">
                  <c:v>0.638</c:v>
                </c:pt>
                <c:pt idx="18">
                  <c:v>0.884</c:v>
                </c:pt>
                <c:pt idx="19">
                  <c:v>0.884</c:v>
                </c:pt>
                <c:pt idx="20">
                  <c:v>0.483</c:v>
                </c:pt>
                <c:pt idx="21">
                  <c:v>0.201</c:v>
                </c:pt>
                <c:pt idx="22">
                  <c:v>0.283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0.401</c:v>
                </c:pt>
                <c:pt idx="27">
                  <c:v>0.401</c:v>
                </c:pt>
                <c:pt idx="28">
                  <c:v>0.201</c:v>
                </c:pt>
                <c:pt idx="29">
                  <c:v>0</c:v>
                </c:pt>
                <c:pt idx="30">
                  <c:v>0.201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HHR</c:v>
                </c:pt>
              </c:strCache>
            </c:strRef>
          </c:tx>
          <c:spPr>
            <a:solidFill>
              <a:srgbClr val="3D39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Sheet1!$A$2:$A$37</c:f>
              <c:multiLvlStrCache>
                <c:ptCount val="3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</c:lvl>
              </c:multiLvlStrCache>
            </c:multiLvlStrRef>
          </c:cat>
          <c:val>
            <c:numRef>
              <c:f>Sheet1!$D$2:$D$37</c:f>
              <c:numCache>
                <c:formatCode>General</c:formatCode>
                <c:ptCount val="36"/>
                <c:pt idx="0">
                  <c:v>0</c:v>
                </c:pt>
                <c:pt idx="1">
                  <c:v>6.077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0.955</c:v>
                </c:pt>
                <c:pt idx="8">
                  <c:v>0.955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2.881</c:v>
                </c:pt>
                <c:pt idx="16">
                  <c:v>0.971</c:v>
                </c:pt>
                <c:pt idx="17">
                  <c:v>0</c:v>
                </c:pt>
                <c:pt idx="18">
                  <c:v>0</c:v>
                </c:pt>
                <c:pt idx="19">
                  <c:v>1.91</c:v>
                </c:pt>
                <c:pt idx="20">
                  <c:v>3.18</c:v>
                </c:pt>
                <c:pt idx="21">
                  <c:v>0</c:v>
                </c:pt>
                <c:pt idx="22">
                  <c:v>2.897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4.167</c:v>
                </c:pt>
                <c:pt idx="28">
                  <c:v>0.971</c:v>
                </c:pt>
                <c:pt idx="29">
                  <c:v>0</c:v>
                </c:pt>
                <c:pt idx="30">
                  <c:v>3.196</c:v>
                </c:pt>
                <c:pt idx="31">
                  <c:v>1.113</c:v>
                </c:pt>
                <c:pt idx="32">
                  <c:v>0</c:v>
                </c:pt>
                <c:pt idx="33">
                  <c:v>1.113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935"/>
                </a:solidFill>
                <a:latin typeface="Diodrum Arab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8C9C7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D3935"/>
                </a:solidFill>
                <a:latin typeface="Diodrum Arab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3D3935"/>
              </a:solidFill>
              <a:latin typeface="Diodrum Arabic"/>
              <a:cs typeface="Diodrum Arab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draft contract between SAR and ETECHS (22 Jan 2024) with Annexes 1 to 5. Station list: Annex 1 deliverables. Quantities and sub-systems: Annex 3 price table (Revised-02, SAR 62,000,000 ex-VAT; EWR 11,113,215, NSR 20,499,295, HHR 30,387,490). Boundaries: Annex 3 terms (exclusions) and Annex 5 SAR responses (inner areas only). Madinah is priced at 50% of the Makkah BOQ.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facts: 36-month term from Notice to Proceed (Annex 1); initial baseline within 10 days of the effective date, detailed baseline 21 days after the mobilization and survey works, SAR review at most 21 days (clause 3, Baseline Programme); trial operation maximum 45 days; defects liability 1 year from each Taking-Over Certificate. Everything else is a planning assumption: Riyadh starts in weeks 6 and 8 with expedited procurement; other stations are spread so the last final acceptance falls at month 36; NTP 1 Nov 2026 is an editable assumption. Level 3 and 4 detail is in the interactive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amounts are the invoices falling in each month, from clause 15 of the draft contract: 20% mobilization, 10% engineering submittal, 10% after SAR approval, 20% material delivery, 20% installation, 10% testing and commissioning (SAT), 10% final acceptance and handover, each prorated per station on the station value. Invoice dates follow the planning baseline on the schedule slide (assumed, not approved by SAR). Month 1 is the first month after the Notice to Proceed (1 Nov 2026 assumed). Amounts exclude 15% VAT.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675742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Passengers' Security Checking  |  Scope of work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338560" y="5303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11480" y="6382512"/>
            <a:ext cx="11365992" cy="0"/>
          </a:xfrm>
          <a:prstGeom prst="line">
            <a:avLst/>
          </a:prstGeom>
          <a:noFill/>
          <a:ln w="12700">
            <a:solidFill>
              <a:srgbClr val="00778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521440" y="627278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841248"/>
            <a:ext cx="182880" cy="475488"/>
          </a:xfrm>
          <a:prstGeom prst="parallelogram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8046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Scope of work: integrated security at 14 passenger stations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2618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Design, supply, installation, testing and handover of CCTV, video management and access control on NSR, EWR and HHR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1691640"/>
            <a:ext cx="2514600" cy="932688"/>
          </a:xfrm>
          <a:prstGeom prst="rect">
            <a:avLst/>
          </a:prstGeom>
          <a:solidFill>
            <a:srgbClr val="F2F8F9"/>
          </a:solidFill>
          <a:ln w="9525">
            <a:solidFill>
              <a:srgbClr val="E6F1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1832" y="17190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14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941832" y="21305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stations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" y="235000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NSR 6 · EWR 4 · HHR 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520440" y="1691640"/>
            <a:ext cx="2514600" cy="932688"/>
          </a:xfrm>
          <a:prstGeom prst="rect">
            <a:avLst/>
          </a:prstGeom>
          <a:solidFill>
            <a:srgbClr val="F2F8F9"/>
          </a:solidFill>
          <a:ln w="9525">
            <a:solidFill>
              <a:srgbClr val="E6F1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85032" y="17190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2,481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3685032" y="21305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cameras supplied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685032" y="235000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per Annex 3 price table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63640" y="1691640"/>
            <a:ext cx="2514600" cy="932688"/>
          </a:xfrm>
          <a:prstGeom prst="rect">
            <a:avLst/>
          </a:prstGeom>
          <a:solidFill>
            <a:srgbClr val="F2F8F9"/>
          </a:solidFill>
          <a:ln w="9525">
            <a:solidFill>
              <a:srgbClr val="E6F1F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28232" y="17190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SAR 62.0M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6428232" y="21305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lump-sum price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28232" y="235000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excluding 15% VAT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006840" y="1691640"/>
            <a:ext cx="2514600" cy="932688"/>
          </a:xfrm>
          <a:prstGeom prst="rect">
            <a:avLst/>
          </a:prstGeom>
          <a:solidFill>
            <a:srgbClr val="F2F8F9"/>
          </a:solidFill>
          <a:ln w="9525">
            <a:solidFill>
              <a:srgbClr val="E6F1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71432" y="17190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36 months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9171432" y="213055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contract term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171432" y="235000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from Notice to Proceed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2743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WHAT IS DELIVERED AT EACH STATION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77240" y="2999232"/>
            <a:ext cx="34594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8C9C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3063240"/>
            <a:ext cx="3185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CCTV system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" y="3328416"/>
            <a:ext cx="318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Fixed, 90°, 180° panoramic, tandem PTZ, 360°, face recognition and ANPR cameras with line-crossing and direction analytics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419600" y="2999232"/>
            <a:ext cx="34594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8C9C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56760" y="3063240"/>
            <a:ext cx="3185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Video management and video wall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556760" y="3328416"/>
            <a:ext cx="318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Servers, 24-bay storage (8 MP, 15 days, RAID 5), 55-inch video walls and operator workstations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061960" y="2999232"/>
            <a:ext cx="34594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8C9C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199120" y="3063240"/>
            <a:ext cx="3185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Access control and intercom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199120" y="3328416"/>
            <a:ext cx="318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Readers, controllers, magnetic locks, ID-card station and IP door station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77240" y="4005072"/>
            <a:ext cx="34594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8C9C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4069080"/>
            <a:ext cx="3185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UPS, poles and network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4334256"/>
            <a:ext cx="318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UPS with 2 hours backup, Cisco core and PoE switches, field cabinets, poles, cabling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419600" y="4005072"/>
            <a:ext cx="34594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8C9C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56760" y="4069080"/>
            <a:ext cx="3185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Civil works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4556760" y="4334256"/>
            <a:ext cx="318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Platform trenches, duct banks, camera poles and ALPR poles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061960" y="4005072"/>
            <a:ext cx="34594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C8C9C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199120" y="4069080"/>
            <a:ext cx="3185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Services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8199120" y="4334256"/>
            <a:ext cx="3185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Design, project management, factory acceptance test, commissioning spares, training, 12-month cloud storage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77240" y="5029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STATIONS BY RAILWAY  (★ RIYADH PRIORITY)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77240" y="5303520"/>
            <a:ext cx="566928" cy="228600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77240" y="530352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NSR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1463040" y="53035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Riyadh Thumamah ★ · Al Majma'ah · Qassim · Hail · Al Jouf · Qurayyat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777240" y="5577840"/>
            <a:ext cx="566928" cy="228600"/>
          </a:xfrm>
          <a:prstGeom prst="rect">
            <a:avLst/>
          </a:prstGeom>
          <a:solidFill>
            <a:srgbClr val="F1B434"/>
          </a:solidFill>
          <a:ln w="12700">
            <a:solidFill>
              <a:srgbClr val="F1B43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77240" y="55778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EWR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463040" y="55778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Riyadh Malaz ★ · Dammam · Hufuf · Abqaiq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777240" y="5852160"/>
            <a:ext cx="566928" cy="22860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77240" y="58521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HHR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1463040" y="585216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Jeddah · KAEC · Makkah · Madinah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7178040" y="5029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BOUNDARIES (ANNEXES 3 AND 5)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7178040" y="5285232"/>
            <a:ext cx="4343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Inside the station only, from doors to platforms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Excluded: fibre between stations, IP telephony, cyber-security hardening, maintenance programme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SAR provides: gate passes, laydown area, network to control rooms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675742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Passengers' Security Checking  |  Schedule, Level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338560" y="5303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11480" y="6382512"/>
            <a:ext cx="11365992" cy="0"/>
          </a:xfrm>
          <a:prstGeom prst="line">
            <a:avLst/>
          </a:prstGeom>
          <a:noFill/>
          <a:ln w="12700">
            <a:solidFill>
              <a:srgbClr val="00778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521440" y="627278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841248"/>
            <a:ext cx="182880" cy="475488"/>
          </a:xfrm>
          <a:prstGeom prst="parallelogram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8046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Level 2 schedule: Riyadh first, last station accepted at month 36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2618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Level 1 project, Level 2 priority package and railways; months from Notice to Proceed (assumed 1 Nov 2026)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601980" cy="274320"/>
          </a:xfrm>
          <a:prstGeom prst="rect">
            <a:avLst/>
          </a:prstGeom>
          <a:solidFill>
            <a:srgbClr val="F2F8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99660" y="1737360"/>
            <a:ext cx="601980" cy="274320"/>
          </a:xfrm>
          <a:prstGeom prst="rect">
            <a:avLst/>
          </a:prstGeom>
          <a:solidFill>
            <a:srgbClr val="E6F1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966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01640" y="1737360"/>
            <a:ext cx="601980" cy="274320"/>
          </a:xfrm>
          <a:prstGeom prst="rect">
            <a:avLst/>
          </a:prstGeom>
          <a:solidFill>
            <a:srgbClr val="F2F8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0164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03620" y="1737360"/>
            <a:ext cx="601980" cy="274320"/>
          </a:xfrm>
          <a:prstGeom prst="rect">
            <a:avLst/>
          </a:prstGeom>
          <a:solidFill>
            <a:srgbClr val="E6F1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0362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05600" y="1737360"/>
            <a:ext cx="601980" cy="274320"/>
          </a:xfrm>
          <a:prstGeom prst="rect">
            <a:avLst/>
          </a:prstGeom>
          <a:solidFill>
            <a:srgbClr val="F2F8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0560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307580" y="1737360"/>
            <a:ext cx="601980" cy="274320"/>
          </a:xfrm>
          <a:prstGeom prst="rect">
            <a:avLst/>
          </a:prstGeom>
          <a:solidFill>
            <a:srgbClr val="E6F1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0758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09560" y="1737360"/>
            <a:ext cx="601980" cy="274320"/>
          </a:xfrm>
          <a:prstGeom prst="rect">
            <a:avLst/>
          </a:prstGeom>
          <a:solidFill>
            <a:srgbClr val="F2F8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0956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Q7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511540" y="1737360"/>
            <a:ext cx="601980" cy="274320"/>
          </a:xfrm>
          <a:prstGeom prst="rect">
            <a:avLst/>
          </a:prstGeom>
          <a:solidFill>
            <a:srgbClr val="E6F1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1154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Q8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113520" y="1737360"/>
            <a:ext cx="601980" cy="274320"/>
          </a:xfrm>
          <a:prstGeom prst="rect">
            <a:avLst/>
          </a:prstGeom>
          <a:solidFill>
            <a:srgbClr val="F2F8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1352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Q9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715500" y="1737360"/>
            <a:ext cx="601980" cy="274320"/>
          </a:xfrm>
          <a:prstGeom prst="rect">
            <a:avLst/>
          </a:prstGeom>
          <a:solidFill>
            <a:srgbClr val="E6F1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1550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Q10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0317480" y="1737360"/>
            <a:ext cx="601980" cy="274320"/>
          </a:xfrm>
          <a:prstGeom prst="rect">
            <a:avLst/>
          </a:prstGeom>
          <a:solidFill>
            <a:srgbClr val="F2F8F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31748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Q11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919460" y="1737360"/>
            <a:ext cx="601980" cy="274320"/>
          </a:xfrm>
          <a:prstGeom prst="rect">
            <a:avLst/>
          </a:prstGeom>
          <a:solidFill>
            <a:srgbClr val="E6F1F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919460" y="1737360"/>
            <a:ext cx="601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Q12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069080" y="20208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M0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5273040" y="20208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M6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6477000" y="20208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M12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7680960" y="20208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M18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8884920" y="20208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M24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0088880" y="20208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M30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1292840" y="20208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M36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777240" y="1737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Activity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297680" y="2267712"/>
            <a:ext cx="0" cy="3008376"/>
          </a:xfrm>
          <a:prstGeom prst="line">
            <a:avLst/>
          </a:prstGeom>
          <a:noFill/>
          <a:ln w="6350">
            <a:solidFill>
              <a:srgbClr val="C8C9C7"/>
            </a:solidFill>
            <a:prstDash val="dash"/>
          </a:ln>
        </p:spPr>
      </p:sp>
      <p:sp>
        <p:nvSpPr>
          <p:cNvPr id="43" name="Shape 40"/>
          <p:cNvSpPr/>
          <p:nvPr/>
        </p:nvSpPr>
        <p:spPr>
          <a:xfrm>
            <a:off x="5501640" y="2267712"/>
            <a:ext cx="0" cy="3008376"/>
          </a:xfrm>
          <a:prstGeom prst="line">
            <a:avLst/>
          </a:prstGeom>
          <a:noFill/>
          <a:ln w="6350">
            <a:solidFill>
              <a:srgbClr val="C8C9C7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6705600" y="2267712"/>
            <a:ext cx="0" cy="3008376"/>
          </a:xfrm>
          <a:prstGeom prst="line">
            <a:avLst/>
          </a:prstGeom>
          <a:noFill/>
          <a:ln w="6350">
            <a:solidFill>
              <a:srgbClr val="C8C9C7"/>
            </a:solidFill>
            <a:prstDash val="dash"/>
          </a:ln>
        </p:spPr>
      </p:sp>
      <p:sp>
        <p:nvSpPr>
          <p:cNvPr id="45" name="Shape 42"/>
          <p:cNvSpPr/>
          <p:nvPr/>
        </p:nvSpPr>
        <p:spPr>
          <a:xfrm>
            <a:off x="7909560" y="2267712"/>
            <a:ext cx="0" cy="3008376"/>
          </a:xfrm>
          <a:prstGeom prst="line">
            <a:avLst/>
          </a:prstGeom>
          <a:noFill/>
          <a:ln w="6350">
            <a:solidFill>
              <a:srgbClr val="C8C9C7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>
            <a:off x="9113520" y="2267712"/>
            <a:ext cx="0" cy="3008376"/>
          </a:xfrm>
          <a:prstGeom prst="line">
            <a:avLst/>
          </a:prstGeom>
          <a:noFill/>
          <a:ln w="6350">
            <a:solidFill>
              <a:srgbClr val="C8C9C7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>
            <a:off x="10317480" y="2267712"/>
            <a:ext cx="0" cy="3008376"/>
          </a:xfrm>
          <a:prstGeom prst="line">
            <a:avLst/>
          </a:prstGeom>
          <a:noFill/>
          <a:ln w="6350">
            <a:solidFill>
              <a:srgbClr val="C8C9C7"/>
            </a:solidFill>
            <a:prstDash val="dash"/>
          </a:ln>
        </p:spPr>
      </p:sp>
      <p:sp>
        <p:nvSpPr>
          <p:cNvPr id="48" name="Shape 45"/>
          <p:cNvSpPr/>
          <p:nvPr/>
        </p:nvSpPr>
        <p:spPr>
          <a:xfrm>
            <a:off x="11521440" y="2267712"/>
            <a:ext cx="0" cy="3008376"/>
          </a:xfrm>
          <a:prstGeom prst="line">
            <a:avLst/>
          </a:prstGeom>
          <a:noFill/>
          <a:ln w="6350">
            <a:solidFill>
              <a:srgbClr val="C8C9C7"/>
            </a:solidFill>
            <a:prstDash val="dash"/>
          </a:ln>
        </p:spPr>
      </p:sp>
      <p:sp>
        <p:nvSpPr>
          <p:cNvPr id="49" name="Shape 46"/>
          <p:cNvSpPr/>
          <p:nvPr/>
        </p:nvSpPr>
        <p:spPr>
          <a:xfrm>
            <a:off x="731520" y="2267712"/>
            <a:ext cx="10789920" cy="393192"/>
          </a:xfrm>
          <a:prstGeom prst="rect">
            <a:avLst/>
          </a:prstGeom>
          <a:solidFill>
            <a:srgbClr val="E6F1F4"/>
          </a:solidFill>
          <a:ln w="12700">
            <a:solidFill>
              <a:srgbClr val="E6F1F4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77240" y="2267712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SAR Passengers' Security Checking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14 stations · SAR 62.00M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4297680" y="2350008"/>
            <a:ext cx="7223760" cy="23774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370832" y="2350008"/>
            <a:ext cx="7114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NTP at M0, term ends M36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914400" y="2697480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Mobilization and baseline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Baseline in 10 days, detailed one 21 days after survey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4297680" y="2779776"/>
            <a:ext cx="416755" cy="237744"/>
          </a:xfrm>
          <a:prstGeom prst="rect">
            <a:avLst/>
          </a:prstGeom>
          <a:solidFill>
            <a:srgbClr val="768692"/>
          </a:solidFill>
          <a:ln w="12700">
            <a:solidFill>
              <a:srgbClr val="76869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787587" y="27797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M0.0 to M2.1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31520" y="3127248"/>
            <a:ext cx="10789920" cy="393192"/>
          </a:xfrm>
          <a:prstGeom prst="rect">
            <a:avLst/>
          </a:prstGeom>
          <a:solidFill>
            <a:srgbClr val="F2F8F9"/>
          </a:solidFill>
          <a:ln w="12700">
            <a:solidFill>
              <a:srgbClr val="F2F8F9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14400" y="312724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Riyadh priority stations (NSR + EWR)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2 stations · SAR 6.57M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4575517" y="3209544"/>
            <a:ext cx="2315308" cy="237744"/>
          </a:xfrm>
          <a:prstGeom prst="rect">
            <a:avLst/>
          </a:prstGeom>
          <a:solidFill>
            <a:srgbClr val="CB2C30"/>
          </a:solidFill>
          <a:ln w="12700">
            <a:solidFill>
              <a:srgbClr val="CB2C3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4648669" y="3209544"/>
            <a:ext cx="22055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M1.4 to M12.9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419791" y="3214116"/>
            <a:ext cx="201168" cy="20116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3D3935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14400" y="3557016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NSR: North South Railway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5 stations · SAR 17.02M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6381457" y="3639312"/>
            <a:ext cx="5139983" cy="237744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454609" y="3639312"/>
            <a:ext cx="5030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M10.4 to M36.0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914400" y="3986784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EWR: East West Railway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3 stations · SAR 8.02M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5964702" y="4069080"/>
            <a:ext cx="4352778" cy="237744"/>
          </a:xfrm>
          <a:prstGeom prst="rect">
            <a:avLst/>
          </a:prstGeom>
          <a:solidFill>
            <a:srgbClr val="F1B434"/>
          </a:solidFill>
          <a:ln w="12700">
            <a:solidFill>
              <a:srgbClr val="F1B434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037854" y="4069080"/>
            <a:ext cx="42430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M8.3 to M30.0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914400" y="4416552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HHR: Haramain High Speed Rail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4 stations · SAR 30.39M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5223803" y="4498848"/>
            <a:ext cx="5834575" cy="237744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296955" y="4498848"/>
            <a:ext cx="57248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M4.6 to M33.7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914400" y="4846320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Closeout, warranty and support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Rolling per station; 1-year defects liability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6705600" y="4928616"/>
            <a:ext cx="4815840" cy="237744"/>
          </a:xfrm>
          <a:prstGeom prst="rect">
            <a:avLst/>
          </a:prstGeom>
          <a:solidFill>
            <a:srgbClr val="768692"/>
          </a:solidFill>
          <a:ln w="12700">
            <a:solidFill>
              <a:srgbClr val="768692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6778752" y="4928616"/>
            <a:ext cx="470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M12.0 to M36.0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11521440" y="2221992"/>
            <a:ext cx="0" cy="3054096"/>
          </a:xfrm>
          <a:prstGeom prst="line">
            <a:avLst/>
          </a:prstGeom>
          <a:noFill/>
          <a:ln w="22225">
            <a:solidFill>
              <a:srgbClr val="CB2C30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0424160" y="52943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B2C30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Term ends M36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777240" y="5577840"/>
            <a:ext cx="2061058" cy="475488"/>
          </a:xfrm>
          <a:prstGeom prst="rect">
            <a:avLst/>
          </a:prstGeom>
          <a:solidFill>
            <a:srgbClr val="F2F8F9"/>
          </a:solidFill>
          <a:ln w="9525">
            <a:solidFill>
              <a:srgbClr val="E6F1F4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86968" y="5577840"/>
            <a:ext cx="18781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2C30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M1.4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Riyadh start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2948026" y="5577840"/>
            <a:ext cx="2061058" cy="475488"/>
          </a:xfrm>
          <a:prstGeom prst="rect">
            <a:avLst/>
          </a:prstGeom>
          <a:solidFill>
            <a:srgbClr val="F2F8F9"/>
          </a:solidFill>
          <a:ln w="9525">
            <a:solidFill>
              <a:srgbClr val="E6F1F4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3057754" y="5577840"/>
            <a:ext cx="18781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2C30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M4.4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Riyadh design approved</a:t>
            </a:r>
            <a:endParaRPr lang="en-US" sz="1400" dirty="0"/>
          </a:p>
        </p:txBody>
      </p:sp>
      <p:sp>
        <p:nvSpPr>
          <p:cNvPr id="79" name="Shape 76"/>
          <p:cNvSpPr/>
          <p:nvPr/>
        </p:nvSpPr>
        <p:spPr>
          <a:xfrm>
            <a:off x="5118811" y="5577840"/>
            <a:ext cx="2061058" cy="475488"/>
          </a:xfrm>
          <a:prstGeom prst="rect">
            <a:avLst/>
          </a:prstGeom>
          <a:solidFill>
            <a:srgbClr val="F2F8F9"/>
          </a:solidFill>
          <a:ln w="9525">
            <a:solidFill>
              <a:srgbClr val="E6F1F4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5228539" y="5577840"/>
            <a:ext cx="18781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2C30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M11.1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Riyadh SAT done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7289597" y="5577840"/>
            <a:ext cx="2061058" cy="475488"/>
          </a:xfrm>
          <a:prstGeom prst="rect">
            <a:avLst/>
          </a:prstGeom>
          <a:solidFill>
            <a:srgbClr val="F2F8F9"/>
          </a:solidFill>
          <a:ln w="9525">
            <a:solidFill>
              <a:srgbClr val="E6F1F4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7399325" y="5577840"/>
            <a:ext cx="18781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2C30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M12.9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Riyadh accepted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9460382" y="5577840"/>
            <a:ext cx="2061058" cy="475488"/>
          </a:xfrm>
          <a:prstGeom prst="rect">
            <a:avLst/>
          </a:prstGeom>
          <a:solidFill>
            <a:srgbClr val="E6F1F4"/>
          </a:solidFill>
          <a:ln w="9525">
            <a:solidFill>
              <a:srgbClr val="E6F1F4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9570110" y="5577840"/>
            <a:ext cx="18781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M36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Last station accepted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4297680" y="6199632"/>
            <a:ext cx="146304" cy="14630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3D3935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507992" y="61813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Riyadh SAT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5486400" y="6217920"/>
            <a:ext cx="128016" cy="109728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5669280" y="6181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NSR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6149340" y="6217920"/>
            <a:ext cx="128016" cy="109728"/>
          </a:xfrm>
          <a:prstGeom prst="rect">
            <a:avLst/>
          </a:prstGeom>
          <a:solidFill>
            <a:srgbClr val="F1B434"/>
          </a:solidFill>
          <a:ln w="12700">
            <a:solidFill>
              <a:srgbClr val="F1B434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6332220" y="6181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EWR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6812280" y="6217920"/>
            <a:ext cx="128016" cy="109728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6995160" y="6181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HHR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7475220" y="6217920"/>
            <a:ext cx="128016" cy="109728"/>
          </a:xfrm>
          <a:prstGeom prst="rect">
            <a:avLst/>
          </a:prstGeom>
          <a:solidFill>
            <a:srgbClr val="CB2C30"/>
          </a:solidFill>
          <a:ln w="12700">
            <a:solidFill>
              <a:srgbClr val="CB2C30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7658100" y="6181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Riyadh priority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8961120" y="6217920"/>
            <a:ext cx="128016" cy="109728"/>
          </a:xfrm>
          <a:prstGeom prst="rect">
            <a:avLst/>
          </a:prstGeom>
          <a:solidFill>
            <a:srgbClr val="768692"/>
          </a:solidFill>
          <a:ln w="12700">
            <a:solidFill>
              <a:srgbClr val="768692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9144000" y="6181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935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Mobilization / closeout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777240" y="618134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Baseline assumed: not yet approved by SAR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675742" cy="42062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274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Passengers' Security Checking  |  Cash flow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338560" y="5303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11480" y="6382512"/>
            <a:ext cx="11365992" cy="0"/>
          </a:xfrm>
          <a:prstGeom prst="line">
            <a:avLst/>
          </a:prstGeom>
          <a:noFill/>
          <a:ln w="12700">
            <a:solidFill>
              <a:srgbClr val="00778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521440" y="6272784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841248"/>
            <a:ext cx="182880" cy="475488"/>
          </a:xfrm>
          <a:prstGeom prst="parallelogram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8046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8B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Cash flow: SAR 62.0M invoiced on seven contract milestones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2618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8692"/>
                </a:solidFill>
                <a:latin typeface="Diodrum Arabic" pitchFamily="34" charset="0"/>
                <a:ea typeface="Diodrum Arabic" pitchFamily="34" charset="-122"/>
                <a:cs typeface="Diodrum Arabic" pitchFamily="34" charset="-120"/>
              </a:rPr>
              <a:t>Amount to be invoiced in each month from Notice to Proceed (assumed 1 Nov 2026), SAR million excluding VAT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64208"/>
          <a:ext cx="107442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61970"/>
                <a:gridCol w="761970"/>
                <a:gridCol w="761970"/>
                <a:gridCol w="761970"/>
                <a:gridCol w="761970"/>
                <a:gridCol w="761970"/>
                <a:gridCol w="761970"/>
                <a:gridCol w="761970"/>
                <a:gridCol w="761970"/>
                <a:gridCol w="761970"/>
                <a:gridCol w="761970"/>
                <a:gridCol w="76197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Month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M1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Nov 26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M2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Dec 26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M3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Jan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M4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Feb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M5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Mar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M6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Apr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May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Jun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Jul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M10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Aug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M11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Sept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M12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Oct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Invoiced in month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-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B2C30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12.40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-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0.66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0.66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-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-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0.96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1.65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0.62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2.30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0.31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Cumulative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0.0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12.4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12.4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13.1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13.7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13.7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13.7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14.7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16.3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16.9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19.2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19.5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Month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M13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Nov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M14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Dec 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M15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Jan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M16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Feb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M17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Mar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M18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Apr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M19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May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M20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Jun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M21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Jul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M22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Aug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M23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Sept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M24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Oct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Invoiced in month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0.97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0.93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0.68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2.88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1.61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0.64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1.56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4.15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4.00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1.22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4.20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-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Cumulative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20.5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21.5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22.1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25.0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26.6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27.3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28.8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33.0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37.0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38.2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42.4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42.4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Month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M25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Nov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M26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Dec 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M27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Jan 29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M28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Feb 29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M29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Mar 29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M30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Apr 29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M31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May 29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M32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Jun 29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M33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Jul 29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M34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Aug 29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M35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Sept 29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M36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Oct 29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Invoiced in month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0.68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0.34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1.08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5.25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1.85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0.34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4.08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2.82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0.34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1.79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0.68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0.34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Cumulative</a:t>
                      </a:r>
                      <a:endParaRPr lang="en-US" sz="10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43.1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43.4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44.5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49.8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51.6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51.9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56.0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58.8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59.2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61.0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61.7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78B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62.0</a:t>
                      </a:r>
                      <a:endParaRPr lang="en-US" sz="11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777240" y="4553712"/>
          <a:ext cx="56692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4590288"/>
          <a:ext cx="48463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94360"/>
                <a:gridCol w="685800"/>
                <a:gridCol w="1234440"/>
              </a:tblGrid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Contract milestone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Share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SAR M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Months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Mobilization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20%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12.4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1.4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Engineering submittal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10%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6.2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3.2 to 26.1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SAR approval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10%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6.2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3.9 to 26.8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Material delivery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20%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12.4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8.5 to 31.8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Installation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20%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12.4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10.2 to 33.5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Testing &amp; commissioning (SAT)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10%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6.2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10.8 to 34.2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Final acceptance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10%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6.2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D3935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12.7 to 35.8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 anchor="ctr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9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778B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Total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778B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100%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778B"/>
                          </a:solidFill>
                          <a:latin typeface="Diodrum Arabic" pitchFamily="34" charset="0"/>
                          <a:ea typeface="Diodrum Arabic" pitchFamily="34" charset="-122"/>
                          <a:cs typeface="Diodrum Arabic" pitchFamily="34" charset="-120"/>
                        </a:rPr>
                        <a:t>62.0</a:t>
                      </a:r>
                      <a:endParaRPr lang="en-US" sz="9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Diodrum Arabic" charset="0"/>
                        <a:ea typeface="Diodrum Arabic" charset="0"/>
                        <a:cs typeface="Diodrum Arabic" charset="0"/>
                      </a:endParaRPr>
                    </a:p>
                  </a:txBody>
                  <a:tcPr marL="45720" marR="45720" marT="0" marB="0">
                    <a:lnL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Saudi Arabia Railways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 Passengers' Security Checking: Scope, Schedule L2 and Cash Flow</dc:title>
  <dc:subject>PptxGenJS Presentation</dc:subject>
  <dc:creator>ETECHS</dc:creator>
  <cp:lastModifiedBy>ETECHS</cp:lastModifiedBy>
  <cp:revision>1</cp:revision>
  <dcterms:created xsi:type="dcterms:W3CDTF">2026-10-06T04:44:03Z</dcterms:created>
  <dcterms:modified xsi:type="dcterms:W3CDTF">2026-10-06T04:44:03Z</dcterms:modified>
</cp:coreProperties>
</file>