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000" b="0" i="0" u="none" strike="noStrike">
                <a:solidFill>
                  <a:srgbClr val="00778B"/>
                </a:solidFill>
                <a:latin typeface="Diodrum Arabic"/>
              </a:rPr>
              <a:t>SAR M invoiced per month, by railway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NSR</c:v>
                </c:pt>
              </c:strCache>
            </c:strRef>
          </c:tx>
          <c:spPr>
            <a:solidFill>
              <a:srgbClr val="0077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</c:v>
                </c:pt>
                <c:pt idx="1">
                  <c:v>4.1</c:v>
                </c:pt>
                <c:pt idx="2">
                  <c:v>0</c:v>
                </c:pt>
                <c:pt idx="3">
                  <c:v>0.348</c:v>
                </c:pt>
                <c:pt idx="4">
                  <c:v>0.348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0.696</c:v>
                </c:pt>
                <c:pt idx="9">
                  <c:v>0</c:v>
                </c:pt>
                <c:pt idx="10">
                  <c:v>1.044</c:v>
                </c:pt>
                <c:pt idx="11">
                  <c:v>0</c:v>
                </c:pt>
                <c:pt idx="12">
                  <c:v>0.688</c:v>
                </c:pt>
                <c:pt idx="13">
                  <c:v>0.34</c:v>
                </c:pt>
                <c:pt idx="14">
                  <c:v>0.68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0.68</c:v>
                </c:pt>
                <c:pt idx="19">
                  <c:v>1.36</c:v>
                </c:pt>
                <c:pt idx="20">
                  <c:v>0.34</c:v>
                </c:pt>
                <c:pt idx="21">
                  <c:v>1.02</c:v>
                </c:pt>
                <c:pt idx="22">
                  <c:v>1.02</c:v>
                </c:pt>
                <c:pt idx="23">
                  <c:v>0</c:v>
                </c:pt>
                <c:pt idx="24">
                  <c:v>0.682</c:v>
                </c:pt>
                <c:pt idx="25">
                  <c:v>0.342</c:v>
                </c:pt>
                <c:pt idx="26">
                  <c:v>0.68</c:v>
                </c:pt>
                <c:pt idx="27">
                  <c:v>0.68</c:v>
                </c:pt>
                <c:pt idx="28">
                  <c:v>0.68</c:v>
                </c:pt>
                <c:pt idx="29">
                  <c:v>0.34</c:v>
                </c:pt>
                <c:pt idx="30">
                  <c:v>0.685</c:v>
                </c:pt>
                <c:pt idx="31">
                  <c:v>1.704</c:v>
                </c:pt>
                <c:pt idx="32">
                  <c:v>0.342</c:v>
                </c:pt>
                <c:pt idx="33">
                  <c:v>0.68</c:v>
                </c:pt>
                <c:pt idx="34">
                  <c:v>0.682</c:v>
                </c:pt>
                <c:pt idx="35">
                  <c:v>0.34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EWR</c:v>
                </c:pt>
              </c:strCache>
            </c:strRef>
          </c:tx>
          <c:spPr>
            <a:solidFill>
              <a:srgbClr val="F1B4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</c:v>
                </c:pt>
                <c:pt idx="1">
                  <c:v>2.223</c:v>
                </c:pt>
                <c:pt idx="2">
                  <c:v>0</c:v>
                </c:pt>
                <c:pt idx="3">
                  <c:v>0.309</c:v>
                </c:pt>
                <c:pt idx="4">
                  <c:v>0.309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0.618</c:v>
                </c:pt>
                <c:pt idx="10">
                  <c:v>1.256</c:v>
                </c:pt>
                <c:pt idx="11">
                  <c:v>0.309</c:v>
                </c:pt>
                <c:pt idx="12">
                  <c:v>0.283</c:v>
                </c:pt>
                <c:pt idx="13">
                  <c:v>0.592</c:v>
                </c:pt>
                <c:pt idx="14">
                  <c:v>0</c:v>
                </c:pt>
                <c:pt idx="15">
                  <c:v>0</c:v>
                </c:pt>
                <c:pt idx="16">
                  <c:v>0.638</c:v>
                </c:pt>
                <c:pt idx="17">
                  <c:v>0.638</c:v>
                </c:pt>
                <c:pt idx="18">
                  <c:v>0.884</c:v>
                </c:pt>
                <c:pt idx="19">
                  <c:v>0.884</c:v>
                </c:pt>
                <c:pt idx="20">
                  <c:v>0.483</c:v>
                </c:pt>
                <c:pt idx="21">
                  <c:v>0.201</c:v>
                </c:pt>
                <c:pt idx="22">
                  <c:v>0.283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0.401</c:v>
                </c:pt>
                <c:pt idx="27">
                  <c:v>0.401</c:v>
                </c:pt>
                <c:pt idx="28">
                  <c:v>0.201</c:v>
                </c:pt>
                <c:pt idx="29">
                  <c:v>0</c:v>
                </c:pt>
                <c:pt idx="30">
                  <c:v>0.201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HHR</c:v>
                </c:pt>
              </c:strCache>
            </c:strRef>
          </c:tx>
          <c:spPr>
            <a:solidFill>
              <a:srgbClr val="3D39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0</c:v>
                </c:pt>
                <c:pt idx="1">
                  <c:v>6.077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0.955</c:v>
                </c:pt>
                <c:pt idx="8">
                  <c:v>0.955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2.881</c:v>
                </c:pt>
                <c:pt idx="16">
                  <c:v>0.971</c:v>
                </c:pt>
                <c:pt idx="17">
                  <c:v>0</c:v>
                </c:pt>
                <c:pt idx="18">
                  <c:v>0</c:v>
                </c:pt>
                <c:pt idx="19">
                  <c:v>1.91</c:v>
                </c:pt>
                <c:pt idx="20">
                  <c:v>3.18</c:v>
                </c:pt>
                <c:pt idx="21">
                  <c:v>0</c:v>
                </c:pt>
                <c:pt idx="22">
                  <c:v>2.897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4.167</c:v>
                </c:pt>
                <c:pt idx="28">
                  <c:v>0.971</c:v>
                </c:pt>
                <c:pt idx="29">
                  <c:v>0</c:v>
                </c:pt>
                <c:pt idx="30">
                  <c:v>3.196</c:v>
                </c:pt>
                <c:pt idx="31">
                  <c:v>1.113</c:v>
                </c:pt>
                <c:pt idx="32">
                  <c:v>0</c:v>
                </c:pt>
                <c:pt idx="33">
                  <c:v>1.113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9C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D3935"/>
              </a:solidFill>
              <a:latin typeface="Diodrum Arabic"/>
              <a:cs typeface="Diodrum Arab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Prepared for Saudi Arabia Railways (SAR) from the draft SAR and ETECHS contract and its annexes.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draft contract between SAR and ETECHS (22 Jan 2024) with Annexes 1 to 5. Station list: Annex 1 deliverables. Quantities and sub-systems: Annex 3 price table (Revised-02, SAR 62,000,000 ex-VAT; EWR 11,113,215, NSR 20,499,295, HHR 30,387,490). Boundaries: Annex 3 terms (exclusions) and Annex 5 SAR responses (inner areas only). Madinah is priced at 50% of the Makkah BOQ.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Contract facts: 36-month term from Notice to Proceed (Annex 1); initial baseline within 10 days of the effective date, detailed baseline 21 days after the mobilization and survey works, SAR review at most 21 days (clause 3, Baseline Programme); trial operation maximum 45 days; defects liability 1 year from each Taking-Over Certificate. Everything else is a planning assumption: Riyadh starts in weeks 6 and 8 with expedited procurement; other stations are spread so the last final acceptance falls at month 36; NTP 1 Nov 2026 is an editable assumption. Level 3 and 4 detail is in the interactive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amounts are the invoices falling in each month, from clause 15 of the draft contract: 20% mobilization, 10% engineering submittal, 10% after SAR approval, 20% material delivery, 20% installation, 10% testing and commissioning (SAT), 10% final acceptance and handover, each prorated per station on the station value. Invoice dates follow the planning baseline on the schedule slide (assumed, not approved by SAR). Month 1 is the first month after the Notice to Proceed (1 Nov 2026 assumed). Amounts exclude 15%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All figures are from the draft contract and its annexes; schedule dates are a planning baseline, not approved by 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2516" y="3291840"/>
            <a:ext cx="502920" cy="3566160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843516" y="3291840"/>
            <a:ext cx="502920" cy="3566160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9105" y="502920"/>
            <a:ext cx="910742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4173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280160" y="2121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work, Level 2 schedule and cash flow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80160" y="25603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Security solutions for HHR, EWR and NSR  ·  14 stations  ·  SAR 62.0M  ·  36 months  |  October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778240" y="6355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SAR.COM.SA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work: integrated security at 14 passenger stations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supply, installation, testing and handover of CCTV, video management and access control on NSR, EWR and HHR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 6 · EWR 4 · HHR 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204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850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2,481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cameras supplied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6850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 Annex 3 price table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636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282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62.0M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64282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lump-sum price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282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excluding 15% VAT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068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714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36 months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1714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 term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1714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from Notice to Proceed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2743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WHAT IS DELIVERED AT EACH STATION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CCTV system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Fixed, 90°, 180° panoramic, tandem PTZ, 360°, face recognition and ANPR cameras with line-crossing and direction analytics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41960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5676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Video management and video wall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55676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Servers, 24-bay storage (8 MP, 15 days, RAID 5), 55-inch video walls and operator workstations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06196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9912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Access control and intercom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19912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Readers, controllers, magnetic locks, ID-card station and IP door station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7724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440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UPS, poles and network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91440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 with 2 hours backup, Cisco core and PoE switches, field cabinets, poles, cabling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41960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5676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Civil works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455676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Platform trenches, duct banks, camera poles and ALPR poles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6196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9912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Services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19912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project management, factory acceptance test, commissioning spares, training, 12-month cloud storage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29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 BY RAILWAY  (★ RIYADH PRIORITY)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1463040" y="53035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Thumamah ★ · Al Majma'ah · Qassim · Hail · Al Jouf · Qurayyat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463040" y="5577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Malaz ★ · Dammam · Hufuf · Abqaiq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463040" y="585216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Jeddah · KAEC · Makkah · Madinah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178040" y="5029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BOUNDARIES (ANNEXES 3 AND 5)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178040" y="5285232"/>
            <a:ext cx="4343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Inside the station only, from doors to platforms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Excluded: fibre between stations, IP telephony, cyber-security hardening, maintenance programme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provides: gate passes, laydown area, network to control rooms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Schedule, Level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2 schedule: Riyadh first, last station accepted at month 36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1 project, Level 2 priority package and railways; months from Notice to Proceed (assumed 1 Nov 2026)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Q4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Q9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0690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2730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M6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47700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68096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M18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88492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M24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00888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12928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" y="17373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Activity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2976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55016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670560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790956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911352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>
            <a:off x="103174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115214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731520" y="2267712"/>
            <a:ext cx="10789920" cy="393192"/>
          </a:xfrm>
          <a:prstGeom prst="rect">
            <a:avLst/>
          </a:prstGeom>
          <a:solidFill>
            <a:srgbClr val="E6F1F4"/>
          </a:solidFill>
          <a:ln w="12700">
            <a:solidFill>
              <a:srgbClr val="E6F1F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226771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Passengers' Security Checking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 stations · SAR 62.00M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297680" y="2350008"/>
            <a:ext cx="7223760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370832" y="2350008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NTP at M0, term ends M36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14400" y="269748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and baseline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in 10 days, detailed one 21 days after survey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297680" y="2779776"/>
            <a:ext cx="416755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7587" y="277977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M0.0 to M2.1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31520" y="3127248"/>
            <a:ext cx="10789920" cy="393192"/>
          </a:xfrm>
          <a:prstGeom prst="rect">
            <a:avLst/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14400" y="3127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 stations (NSR + EWR)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 stations · SAR 6.57M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575517" y="3209544"/>
            <a:ext cx="2315308" cy="237744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648669" y="3209544"/>
            <a:ext cx="2205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 to M12.9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6419791" y="3214116"/>
            <a:ext cx="201168" cy="20116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14400" y="3557016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NSR: North South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 stations · SAR 17.02M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6381457" y="3639312"/>
            <a:ext cx="5139983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6454609" y="3639312"/>
            <a:ext cx="5030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M10.4 to M36.0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914400" y="3986784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EWR: East West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 stations · SAR 8.02M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5964702" y="4069080"/>
            <a:ext cx="4352778" cy="237744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037854" y="4069080"/>
            <a:ext cx="4243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M8.3 to M30.0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914400" y="441655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HHR: Haramain High Speed Rail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 stations · SAR 30.39M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5223803" y="4498848"/>
            <a:ext cx="5834575" cy="23774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296955" y="4498848"/>
            <a:ext cx="5724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M4.6 to M33.7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914400" y="48463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Closeout, warranty and support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Rolling per station; 1-year defects liability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6705600" y="4928616"/>
            <a:ext cx="4815840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778752" y="4928616"/>
            <a:ext cx="470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M12.0 to M36.0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1521440" y="2221992"/>
            <a:ext cx="0" cy="3054096"/>
          </a:xfrm>
          <a:prstGeom prst="line">
            <a:avLst/>
          </a:prstGeom>
          <a:noFill/>
          <a:ln w="22225">
            <a:solidFill>
              <a:srgbClr val="CB2C30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10424160" y="52943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Term ends M36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77240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86968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start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948026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057754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design approved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5118811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228539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M11.1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 done</a:t>
            </a:r>
            <a:endParaRPr lang="en-US" sz="1400" dirty="0"/>
          </a:p>
        </p:txBody>
      </p:sp>
      <p:sp>
        <p:nvSpPr>
          <p:cNvPr id="81" name="Shape 78"/>
          <p:cNvSpPr/>
          <p:nvPr/>
        </p:nvSpPr>
        <p:spPr>
          <a:xfrm>
            <a:off x="7289597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399325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M12.9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accepted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9460382" y="5577840"/>
            <a:ext cx="2061058" cy="47548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9570110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Last station accepted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4297680" y="61996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D3935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507992" y="6181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5486400" y="6217920"/>
            <a:ext cx="128016" cy="109728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66928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6149340" y="6217920"/>
            <a:ext cx="128016" cy="109728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633222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900" dirty="0"/>
          </a:p>
        </p:txBody>
      </p:sp>
      <p:sp>
        <p:nvSpPr>
          <p:cNvPr id="91" name="Shape 88"/>
          <p:cNvSpPr/>
          <p:nvPr/>
        </p:nvSpPr>
        <p:spPr>
          <a:xfrm>
            <a:off x="6812280" y="6217920"/>
            <a:ext cx="128016" cy="109728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699516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900" dirty="0"/>
          </a:p>
        </p:txBody>
      </p:sp>
      <p:sp>
        <p:nvSpPr>
          <p:cNvPr id="93" name="Shape 90"/>
          <p:cNvSpPr/>
          <p:nvPr/>
        </p:nvSpPr>
        <p:spPr>
          <a:xfrm>
            <a:off x="7475220" y="6217920"/>
            <a:ext cx="128016" cy="109728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76581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</a:t>
            </a:r>
            <a:endParaRPr lang="en-US" sz="900" dirty="0"/>
          </a:p>
        </p:txBody>
      </p:sp>
      <p:sp>
        <p:nvSpPr>
          <p:cNvPr id="95" name="Shape 92"/>
          <p:cNvSpPr/>
          <p:nvPr/>
        </p:nvSpPr>
        <p:spPr>
          <a:xfrm>
            <a:off x="8961120" y="6217920"/>
            <a:ext cx="128016" cy="109728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440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/ closeout</a:t>
            </a:r>
            <a:endParaRPr lang="en-US" sz="900" dirty="0"/>
          </a:p>
        </p:txBody>
      </p:sp>
      <p:sp>
        <p:nvSpPr>
          <p:cNvPr id="97" name="Text 94"/>
          <p:cNvSpPr txBox="1"/>
          <p:nvPr/>
        </p:nvSpPr>
        <p:spPr>
          <a:xfrm>
            <a:off x="777240" y="618134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assumed: not yet approved by SAR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Cash flow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Cash flow: SAR 62.0M invoiced on seven contract milestones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Amount to be invoiced in each month from Notice to Proceed (assumed 1 Nov 2026), SAR million excluding VAT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64208"/>
          <a:ext cx="10744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B2C30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1.65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2.30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14.7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19.2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19.5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1.61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4.15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4.00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1.22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4.20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21.5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22.1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25.0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26.6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27.3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28.8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33.0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37.0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38.2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5.25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1.85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4.08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1.79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43.1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43.4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44.5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49.8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51.6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51.9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56.0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58.8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59.2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61.0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61.7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777240" y="4553712"/>
          <a:ext cx="56692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4590288"/>
          <a:ext cx="48463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594360"/>
                <a:gridCol w="685800"/>
                <a:gridCol w="123444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Contract milestone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Share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SAR M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Months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Mobilization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Engineering submittal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3.2 to 26.1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SAR approval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3.9 to 26.8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Material delivery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8.5 to 31.8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Installation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10.2 to 33.5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Testing &amp; commissioning (SAT)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10.8 to 34.2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Final acceptance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12.7 to 35.8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77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34156" y="3246120"/>
            <a:ext cx="914400" cy="3611880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7740396" y="3246120"/>
            <a:ext cx="914400" cy="3611880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311" y="4160520"/>
            <a:ext cx="80833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9659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0" y="617220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SAR.COM.SA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Saudi Arabia Railways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 Passengers' Security Checking: Scope, Schedule L2 and Cash Flow</dc:title>
  <dc:subject>PptxGenJS Presentation</dc:subject>
  <dc:creator>ETECHS</dc:creator>
  <cp:lastModifiedBy>ETECHS</cp:lastModifiedBy>
  <cp:revision>1</cp:revision>
  <dcterms:created xsi:type="dcterms:W3CDTF">2026-10-06T05:02:35Z</dcterms:created>
  <dcterms:modified xsi:type="dcterms:W3CDTF">2026-10-06T05:02:35Z</dcterms:modified>
</cp:coreProperties>
</file>