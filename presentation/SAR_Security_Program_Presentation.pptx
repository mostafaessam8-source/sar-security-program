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2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00778B"/>
                </a:solidFill>
                <a:latin typeface="Diodrum Arabic"/>
              </a:defRPr>
            </a:pPr>
            <a:r>
              <a:rPr sz="1100" b="0" i="0" u="none" strike="noStrike">
                <a:solidFill>
                  <a:srgbClr val="00778B"/>
                </a:solidFill>
                <a:latin typeface="Diodrum Arabic"/>
              </a:rPr>
              <a:t>Cameras by type (2,481 in total)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Cameras</c:v>
                </c:pt>
              </c:strCache>
            </c:strRef>
          </c:tx>
          <c:spPr>
            <a:solidFill>
              <a:srgbClr val="00778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D3935"/>
                    </a:solidFill>
                    <a:latin typeface="Diodrum Arabic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Fixed monitoring (internal / external)</c:v>
                  </c:pt>
                  <c:pt idx="1">
                    <c:v>90° (incl. queue analysis)</c:v>
                  </c:pt>
                  <c:pt idx="2">
                    <c:v>Face recognition</c:v>
                  </c:pt>
                  <c:pt idx="3">
                    <c:v>180° tandem + PTZ</c:v>
                  </c:pt>
                  <c:pt idx="4">
                    <c:v>Direction detection</c:v>
                  </c:pt>
                  <c:pt idx="5">
                    <c:v>ANPR</c:v>
                  </c:pt>
                  <c:pt idx="6">
                    <c:v>Limited-space internal</c:v>
                  </c:pt>
                  <c:pt idx="7">
                    <c:v>360° dome</c:v>
                  </c:pt>
                  <c:pt idx="8">
                    <c:v>180° panoramic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1866</c:v>
                </c:pt>
                <c:pt idx="1">
                  <c:v>177</c:v>
                </c:pt>
                <c:pt idx="2">
                  <c:v>162</c:v>
                </c:pt>
                <c:pt idx="3">
                  <c:v>103</c:v>
                </c:pt>
                <c:pt idx="4">
                  <c:v>40</c:v>
                </c:pt>
                <c:pt idx="5">
                  <c:v>39</c:v>
                </c:pt>
                <c:pt idx="6">
                  <c:v>36</c:v>
                </c:pt>
                <c:pt idx="7">
                  <c:v>32</c:v>
                </c:pt>
                <c:pt idx="8">
                  <c:v>26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D3935"/>
                  </a:solidFill>
                  <a:latin typeface="Diodrum Arabic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D3935"/>
                </a:solidFill>
                <a:latin typeface="Diodrum Arab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00" b="0" i="0" u="none" strike="noStrike">
                <a:solidFill>
                  <a:srgbClr val="00778B"/>
                </a:solidFill>
                <a:latin typeface="Diodrum Arabic"/>
              </a:defRPr>
            </a:pPr>
            <a:r>
              <a:rPr sz="1000" b="0" i="0" u="none" strike="noStrike">
                <a:solidFill>
                  <a:srgbClr val="00778B"/>
                </a:solidFill>
                <a:latin typeface="Diodrum Arabic"/>
              </a:rPr>
              <a:t>SAR M invoiced per month, by railway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NSR</c:v>
                </c:pt>
              </c:strCache>
            </c:strRef>
          </c:tx>
          <c:spPr>
            <a:solidFill>
              <a:srgbClr val="00778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Sheet1!$A$2:$A$37</c:f>
              <c:multiLvlStrCache>
                <c:ptCount val="36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</c:v>
                  </c:pt>
                  <c:pt idx="6">
                    <c:v>7</c:v>
                  </c:pt>
                  <c:pt idx="7">
                    <c:v>8</c:v>
                  </c:pt>
                  <c:pt idx="8">
                    <c:v>9</c:v>
                  </c:pt>
                  <c:pt idx="9">
                    <c:v>10</c:v>
                  </c:pt>
                  <c:pt idx="10">
                    <c:v>11</c:v>
                  </c:pt>
                  <c:pt idx="11">
                    <c:v>12</c:v>
                  </c:pt>
                  <c:pt idx="12">
                    <c:v>13</c:v>
                  </c:pt>
                  <c:pt idx="13">
                    <c:v>14</c:v>
                  </c:pt>
                  <c:pt idx="14">
                    <c:v>15</c:v>
                  </c:pt>
                  <c:pt idx="15">
                    <c:v>16</c:v>
                  </c:pt>
                  <c:pt idx="16">
                    <c:v>17</c:v>
                  </c:pt>
                  <c:pt idx="17">
                    <c:v>18</c:v>
                  </c:pt>
                  <c:pt idx="18">
                    <c:v>19</c:v>
                  </c:pt>
                  <c:pt idx="19">
                    <c:v>20</c:v>
                  </c:pt>
                  <c:pt idx="20">
                    <c:v>21</c:v>
                  </c:pt>
                  <c:pt idx="21">
                    <c:v>22</c:v>
                  </c:pt>
                  <c:pt idx="22">
                    <c:v>23</c:v>
                  </c:pt>
                  <c:pt idx="23">
                    <c:v>24</c:v>
                  </c:pt>
                  <c:pt idx="24">
                    <c:v>25</c:v>
                  </c:pt>
                  <c:pt idx="25">
                    <c:v>26</c:v>
                  </c:pt>
                  <c:pt idx="26">
                    <c:v>27</c:v>
                  </c:pt>
                  <c:pt idx="27">
                    <c:v>28</c:v>
                  </c:pt>
                  <c:pt idx="28">
                    <c:v>29</c:v>
                  </c:pt>
                  <c:pt idx="29">
                    <c:v>30</c:v>
                  </c:pt>
                  <c:pt idx="30">
                    <c:v>31</c:v>
                  </c:pt>
                  <c:pt idx="31">
                    <c:v>32</c:v>
                  </c:pt>
                  <c:pt idx="32">
                    <c:v>33</c:v>
                  </c:pt>
                  <c:pt idx="33">
                    <c:v>34</c:v>
                  </c:pt>
                  <c:pt idx="34">
                    <c:v>35</c:v>
                  </c:pt>
                  <c:pt idx="35">
                    <c:v>36</c:v>
                  </c:pt>
                </c:lvl>
              </c:multiLvlStrCache>
            </c:multiLvlStrRef>
          </c:cat>
          <c:val>
            <c:numRef>
              <c:f>Sheet1!$B$2:$B$37</c:f>
              <c:numCache>
                <c:formatCode>General</c:formatCode>
                <c:ptCount val="36"/>
                <c:pt idx="0">
                  <c:v>0</c:v>
                </c:pt>
                <c:pt idx="1">
                  <c:v>4.1</c:v>
                </c:pt>
                <c:pt idx="2">
                  <c:v>0</c:v>
                </c:pt>
                <c:pt idx="3">
                  <c:v>0.348</c:v>
                </c:pt>
                <c:pt idx="4">
                  <c:v>0.348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0.696</c:v>
                </c:pt>
                <c:pt idx="9">
                  <c:v>0</c:v>
                </c:pt>
                <c:pt idx="10">
                  <c:v>1.044</c:v>
                </c:pt>
                <c:pt idx="11">
                  <c:v>0</c:v>
                </c:pt>
                <c:pt idx="12">
                  <c:v>0.688</c:v>
                </c:pt>
                <c:pt idx="13">
                  <c:v>0.34</c:v>
                </c:pt>
                <c:pt idx="14">
                  <c:v>0.68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0.68</c:v>
                </c:pt>
                <c:pt idx="19">
                  <c:v>1.36</c:v>
                </c:pt>
                <c:pt idx="20">
                  <c:v>0.34</c:v>
                </c:pt>
                <c:pt idx="21">
                  <c:v>1.02</c:v>
                </c:pt>
                <c:pt idx="22">
                  <c:v>1.02</c:v>
                </c:pt>
                <c:pt idx="23">
                  <c:v>0</c:v>
                </c:pt>
                <c:pt idx="24">
                  <c:v>0.682</c:v>
                </c:pt>
                <c:pt idx="25">
                  <c:v>0.342</c:v>
                </c:pt>
                <c:pt idx="26">
                  <c:v>0.68</c:v>
                </c:pt>
                <c:pt idx="27">
                  <c:v>0.68</c:v>
                </c:pt>
                <c:pt idx="28">
                  <c:v>0.68</c:v>
                </c:pt>
                <c:pt idx="29">
                  <c:v>0.34</c:v>
                </c:pt>
                <c:pt idx="30">
                  <c:v>0.685</c:v>
                </c:pt>
                <c:pt idx="31">
                  <c:v>1.704</c:v>
                </c:pt>
                <c:pt idx="32">
                  <c:v>0.342</c:v>
                </c:pt>
                <c:pt idx="33">
                  <c:v>0.68</c:v>
                </c:pt>
                <c:pt idx="34">
                  <c:v>0.682</c:v>
                </c:pt>
                <c:pt idx="35">
                  <c:v>0.34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EWR</c:v>
                </c:pt>
              </c:strCache>
            </c:strRef>
          </c:tx>
          <c:spPr>
            <a:solidFill>
              <a:srgbClr val="F1B43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Sheet1!$A$2:$A$37</c:f>
              <c:multiLvlStrCache>
                <c:ptCount val="36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</c:v>
                  </c:pt>
                  <c:pt idx="6">
                    <c:v>7</c:v>
                  </c:pt>
                  <c:pt idx="7">
                    <c:v>8</c:v>
                  </c:pt>
                  <c:pt idx="8">
                    <c:v>9</c:v>
                  </c:pt>
                  <c:pt idx="9">
                    <c:v>10</c:v>
                  </c:pt>
                  <c:pt idx="10">
                    <c:v>11</c:v>
                  </c:pt>
                  <c:pt idx="11">
                    <c:v>12</c:v>
                  </c:pt>
                  <c:pt idx="12">
                    <c:v>13</c:v>
                  </c:pt>
                  <c:pt idx="13">
                    <c:v>14</c:v>
                  </c:pt>
                  <c:pt idx="14">
                    <c:v>15</c:v>
                  </c:pt>
                  <c:pt idx="15">
                    <c:v>16</c:v>
                  </c:pt>
                  <c:pt idx="16">
                    <c:v>17</c:v>
                  </c:pt>
                  <c:pt idx="17">
                    <c:v>18</c:v>
                  </c:pt>
                  <c:pt idx="18">
                    <c:v>19</c:v>
                  </c:pt>
                  <c:pt idx="19">
                    <c:v>20</c:v>
                  </c:pt>
                  <c:pt idx="20">
                    <c:v>21</c:v>
                  </c:pt>
                  <c:pt idx="21">
                    <c:v>22</c:v>
                  </c:pt>
                  <c:pt idx="22">
                    <c:v>23</c:v>
                  </c:pt>
                  <c:pt idx="23">
                    <c:v>24</c:v>
                  </c:pt>
                  <c:pt idx="24">
                    <c:v>25</c:v>
                  </c:pt>
                  <c:pt idx="25">
                    <c:v>26</c:v>
                  </c:pt>
                  <c:pt idx="26">
                    <c:v>27</c:v>
                  </c:pt>
                  <c:pt idx="27">
                    <c:v>28</c:v>
                  </c:pt>
                  <c:pt idx="28">
                    <c:v>29</c:v>
                  </c:pt>
                  <c:pt idx="29">
                    <c:v>30</c:v>
                  </c:pt>
                  <c:pt idx="30">
                    <c:v>31</c:v>
                  </c:pt>
                  <c:pt idx="31">
                    <c:v>32</c:v>
                  </c:pt>
                  <c:pt idx="32">
                    <c:v>33</c:v>
                  </c:pt>
                  <c:pt idx="33">
                    <c:v>34</c:v>
                  </c:pt>
                  <c:pt idx="34">
                    <c:v>35</c:v>
                  </c:pt>
                  <c:pt idx="35">
                    <c:v>36</c:v>
                  </c:pt>
                </c:lvl>
              </c:multiLvlStrCache>
            </c:multiLvlStrRef>
          </c:cat>
          <c:val>
            <c:numRef>
              <c:f>Sheet1!$C$2:$C$37</c:f>
              <c:numCache>
                <c:formatCode>General</c:formatCode>
                <c:ptCount val="36"/>
                <c:pt idx="0">
                  <c:v>0</c:v>
                </c:pt>
                <c:pt idx="1">
                  <c:v>2.223</c:v>
                </c:pt>
                <c:pt idx="2">
                  <c:v>0</c:v>
                </c:pt>
                <c:pt idx="3">
                  <c:v>0.309</c:v>
                </c:pt>
                <c:pt idx="4">
                  <c:v>0.309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0.618</c:v>
                </c:pt>
                <c:pt idx="10">
                  <c:v>1.256</c:v>
                </c:pt>
                <c:pt idx="11">
                  <c:v>0.309</c:v>
                </c:pt>
                <c:pt idx="12">
                  <c:v>0.283</c:v>
                </c:pt>
                <c:pt idx="13">
                  <c:v>0.592</c:v>
                </c:pt>
                <c:pt idx="14">
                  <c:v>0</c:v>
                </c:pt>
                <c:pt idx="15">
                  <c:v>0</c:v>
                </c:pt>
                <c:pt idx="16">
                  <c:v>0.638</c:v>
                </c:pt>
                <c:pt idx="17">
                  <c:v>0.638</c:v>
                </c:pt>
                <c:pt idx="18">
                  <c:v>0.884</c:v>
                </c:pt>
                <c:pt idx="19">
                  <c:v>0.884</c:v>
                </c:pt>
                <c:pt idx="20">
                  <c:v>0.483</c:v>
                </c:pt>
                <c:pt idx="21">
                  <c:v>0.201</c:v>
                </c:pt>
                <c:pt idx="22">
                  <c:v>0.283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0.401</c:v>
                </c:pt>
                <c:pt idx="27">
                  <c:v>0.401</c:v>
                </c:pt>
                <c:pt idx="28">
                  <c:v>0.201</c:v>
                </c:pt>
                <c:pt idx="29">
                  <c:v>0</c:v>
                </c:pt>
                <c:pt idx="30">
                  <c:v>0.201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  <c:pt idx="35">
                  <c:v>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HHR</c:v>
                </c:pt>
              </c:strCache>
            </c:strRef>
          </c:tx>
          <c:spPr>
            <a:solidFill>
              <a:srgbClr val="3D393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Sheet1!$A$2:$A$37</c:f>
              <c:multiLvlStrCache>
                <c:ptCount val="36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</c:v>
                  </c:pt>
                  <c:pt idx="6">
                    <c:v>7</c:v>
                  </c:pt>
                  <c:pt idx="7">
                    <c:v>8</c:v>
                  </c:pt>
                  <c:pt idx="8">
                    <c:v>9</c:v>
                  </c:pt>
                  <c:pt idx="9">
                    <c:v>10</c:v>
                  </c:pt>
                  <c:pt idx="10">
                    <c:v>11</c:v>
                  </c:pt>
                  <c:pt idx="11">
                    <c:v>12</c:v>
                  </c:pt>
                  <c:pt idx="12">
                    <c:v>13</c:v>
                  </c:pt>
                  <c:pt idx="13">
                    <c:v>14</c:v>
                  </c:pt>
                  <c:pt idx="14">
                    <c:v>15</c:v>
                  </c:pt>
                  <c:pt idx="15">
                    <c:v>16</c:v>
                  </c:pt>
                  <c:pt idx="16">
                    <c:v>17</c:v>
                  </c:pt>
                  <c:pt idx="17">
                    <c:v>18</c:v>
                  </c:pt>
                  <c:pt idx="18">
                    <c:v>19</c:v>
                  </c:pt>
                  <c:pt idx="19">
                    <c:v>20</c:v>
                  </c:pt>
                  <c:pt idx="20">
                    <c:v>21</c:v>
                  </c:pt>
                  <c:pt idx="21">
                    <c:v>22</c:v>
                  </c:pt>
                  <c:pt idx="22">
                    <c:v>23</c:v>
                  </c:pt>
                  <c:pt idx="23">
                    <c:v>24</c:v>
                  </c:pt>
                  <c:pt idx="24">
                    <c:v>25</c:v>
                  </c:pt>
                  <c:pt idx="25">
                    <c:v>26</c:v>
                  </c:pt>
                  <c:pt idx="26">
                    <c:v>27</c:v>
                  </c:pt>
                  <c:pt idx="27">
                    <c:v>28</c:v>
                  </c:pt>
                  <c:pt idx="28">
                    <c:v>29</c:v>
                  </c:pt>
                  <c:pt idx="29">
                    <c:v>30</c:v>
                  </c:pt>
                  <c:pt idx="30">
                    <c:v>31</c:v>
                  </c:pt>
                  <c:pt idx="31">
                    <c:v>32</c:v>
                  </c:pt>
                  <c:pt idx="32">
                    <c:v>33</c:v>
                  </c:pt>
                  <c:pt idx="33">
                    <c:v>34</c:v>
                  </c:pt>
                  <c:pt idx="34">
                    <c:v>35</c:v>
                  </c:pt>
                  <c:pt idx="35">
                    <c:v>36</c:v>
                  </c:pt>
                </c:lvl>
              </c:multiLvlStrCache>
            </c:multiLvlStrRef>
          </c:cat>
          <c:val>
            <c:numRef>
              <c:f>Sheet1!$D$2:$D$37</c:f>
              <c:numCache>
                <c:formatCode>General</c:formatCode>
                <c:ptCount val="36"/>
                <c:pt idx="0">
                  <c:v>0</c:v>
                </c:pt>
                <c:pt idx="1">
                  <c:v>6.077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0.955</c:v>
                </c:pt>
                <c:pt idx="8">
                  <c:v>0.955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2.881</c:v>
                </c:pt>
                <c:pt idx="16">
                  <c:v>0.971</c:v>
                </c:pt>
                <c:pt idx="17">
                  <c:v>0</c:v>
                </c:pt>
                <c:pt idx="18">
                  <c:v>0</c:v>
                </c:pt>
                <c:pt idx="19">
                  <c:v>1.91</c:v>
                </c:pt>
                <c:pt idx="20">
                  <c:v>3.18</c:v>
                </c:pt>
                <c:pt idx="21">
                  <c:v>0</c:v>
                </c:pt>
                <c:pt idx="22">
                  <c:v>2.897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4.167</c:v>
                </c:pt>
                <c:pt idx="28">
                  <c:v>0.971</c:v>
                </c:pt>
                <c:pt idx="29">
                  <c:v>0</c:v>
                </c:pt>
                <c:pt idx="30">
                  <c:v>3.196</c:v>
                </c:pt>
                <c:pt idx="31">
                  <c:v>1.113</c:v>
                </c:pt>
                <c:pt idx="32">
                  <c:v>0</c:v>
                </c:pt>
                <c:pt idx="33">
                  <c:v>1.113</c:v>
                </c:pt>
                <c:pt idx="34">
                  <c:v>0</c:v>
                </c:pt>
                <c:pt idx="35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3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D3935"/>
                </a:solidFill>
                <a:latin typeface="Diodrum Arab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3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C8C9C7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D3935"/>
                </a:solidFill>
                <a:latin typeface="Diodrum Arabic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900">
              <a:solidFill>
                <a:srgbClr val="3D3935"/>
              </a:solidFill>
              <a:latin typeface="Diodrum Arabic"/>
              <a:cs typeface="Diodrum Arabic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Cover. Prepared for Saudi Arabia Railways (SAR) from the draft SAR and ETECHS contract and its annexes.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draft contract between SAR and ETECHS (22 Jan 2024) with Annexes 1 to 5. Station list: Annex 1 deliverables. Quantities and sub-systems: Annex 3 price table (Revised-02, SAR 62,000,000 ex-VAT; EWR 11,113,215, NSR 20,499,295, HHR 30,387,490). Boundaries: Annex 3 terms (exclusions) and Annex 4 SAR responses (inner areas only, item 12). Madinah is priced at 50% of the Makkah BOQ.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contract Annex 3 price table, Revised-02 (NSR 20,499,295; EWR 11,113,215; HHR 30,387,490; total 62,000,000 excluding VAT). Camera counts are the quantities in the CCTV section of each station. Madinah is priced at 50% of the Makkah BOQ. Optional items (centralized control-room servers, PSIM licences) are not included in the price.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Sources: contract clauses 3 (Baseline Programme), 10 (time for performance), 15 (payments), acceptance and defects liability clauses; Annex 2 clauses 3, 5, 6, 9 to 13; Annex 3 terms (exclusions, FAT, delivery, warranty); Annex 4 (clarifications: SAR responses on inner areas only, item 12; fast-track, item 33; laydown area; integration conditions). Annex 5 is the compliance table (HCIS Stage 3 approval, training, spares, lump sum). Trial operation is defined in the contract as a maximum of 45 days.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Contract facts: 36-month term from Notice to Proceed (Annex 1); initial baseline within 10 days of the effective date, detailed baseline 21 days after the mobilization and survey works, SAR review at most 21 days (clause 3, Baseline Programme); trial operation maximum 45 days; defects liability 1 year from each Taking-Over Certificate. Everything else is a planning assumption: Riyadh starts in weeks 6 and 8 with expedited procurement; other stations are spread so the last final acceptance falls at month 36; NTP 1 Nov 2026 is an editable assumption. Level 3 and 4 detail is in the interactive dashboard.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Monthly amounts are the invoices falling in each month, from clause 15 of the draft contract: 20% mobilization, 10% engineering submittal, 10% after SAR approval, 20% material delivery, 20% installation, 10% testing and commissioning (SAT), 10% final acceptance and handover, each prorated per station on the station value. Invoice dates follow the planning baseline on the schedule slide (assumed, not approved by SAR). Month 1 is the first month after the Notice to Proceed (1 Nov 2026 assumed). Amounts exclude 15% VAT.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Closing slide. All figures are from the draft contract and its annexes; schedule dates are a planning baseline, not approved by SAR.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.xml"/><Relationship Id="rId1" Type="http://schemas.openxmlformats.org/officeDocument/2006/relationships/image" Target="../media/image-6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842516" y="3291840"/>
            <a:ext cx="502920" cy="3566160"/>
          </a:xfrm>
          <a:prstGeom prst="parallelogram">
            <a:avLst/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flipH="1">
            <a:off x="9843516" y="3291840"/>
            <a:ext cx="502920" cy="3566160"/>
          </a:xfrm>
          <a:prstGeom prst="parallelogram">
            <a:avLst/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39105" y="502920"/>
            <a:ext cx="910742" cy="56692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141732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0778B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Passengers' Security Checking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1280160" y="2121408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768692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Scope of work, Level 2 schedule and cash flow</a:t>
            </a:r>
            <a:endParaRPr lang="en-US" sz="2200" dirty="0"/>
          </a:p>
        </p:txBody>
      </p:sp>
      <p:sp>
        <p:nvSpPr>
          <p:cNvPr id="7" name="Text 4"/>
          <p:cNvSpPr/>
          <p:nvPr/>
        </p:nvSpPr>
        <p:spPr>
          <a:xfrm>
            <a:off x="1280160" y="2560320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935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Security solutions for HHR, EWR and NSR  ·  14 stations  ·  SAR 62.0M  ·  36 months  |  October 2026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778240" y="635508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SAR.COM.SA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64592"/>
            <a:ext cx="675742" cy="42062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852160" y="274320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68692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Passengers' Security Checking  |  Scope of work (1 of 3)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1338560" y="5303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68692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2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411480" y="6382512"/>
            <a:ext cx="11365992" cy="0"/>
          </a:xfrm>
          <a:prstGeom prst="line">
            <a:avLst/>
          </a:prstGeom>
          <a:noFill/>
          <a:ln w="12700">
            <a:solidFill>
              <a:srgbClr val="00778B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1521440" y="6272784"/>
            <a:ext cx="219456" cy="21945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411480" y="841248"/>
            <a:ext cx="182880" cy="475488"/>
          </a:xfrm>
          <a:prstGeom prst="parallelogram">
            <a:avLst/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77240" y="804672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778B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Scope of work: integrated security at 14 passenger stations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126187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68692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Design, supply, installation, testing and handover of CCTV, video management and access control on NSR, EWR and HHR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77240" y="1691640"/>
            <a:ext cx="2514600" cy="932688"/>
          </a:xfrm>
          <a:prstGeom prst="rect">
            <a:avLst/>
          </a:prstGeom>
          <a:solidFill>
            <a:srgbClr val="F2F8F9"/>
          </a:solidFill>
          <a:ln w="9525">
            <a:solidFill>
              <a:srgbClr val="E6F1F4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941832" y="1719072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778B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14</a:t>
            </a:r>
            <a:endParaRPr lang="en-US" sz="2200" dirty="0"/>
          </a:p>
        </p:txBody>
      </p:sp>
      <p:sp>
        <p:nvSpPr>
          <p:cNvPr id="12" name="Text 9"/>
          <p:cNvSpPr txBox="1"/>
          <p:nvPr/>
        </p:nvSpPr>
        <p:spPr>
          <a:xfrm>
            <a:off x="941832" y="2130552"/>
            <a:ext cx="2240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D3935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stations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941832" y="2350008"/>
            <a:ext cx="2240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68692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NSR 6 · EWR 4 · HHR 4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3520440" y="1691640"/>
            <a:ext cx="2514600" cy="932688"/>
          </a:xfrm>
          <a:prstGeom prst="rect">
            <a:avLst/>
          </a:prstGeom>
          <a:solidFill>
            <a:srgbClr val="F2F8F9"/>
          </a:solidFill>
          <a:ln w="9525">
            <a:solidFill>
              <a:srgbClr val="E6F1F4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685032" y="1719072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778B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2,481</a:t>
            </a:r>
            <a:endParaRPr lang="en-US" sz="2200" dirty="0"/>
          </a:p>
        </p:txBody>
      </p:sp>
      <p:sp>
        <p:nvSpPr>
          <p:cNvPr id="16" name="Text 13"/>
          <p:cNvSpPr txBox="1"/>
          <p:nvPr/>
        </p:nvSpPr>
        <p:spPr>
          <a:xfrm>
            <a:off x="3685032" y="2130552"/>
            <a:ext cx="2240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D3935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cameras supplied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3685032" y="2350008"/>
            <a:ext cx="2240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68692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per Annex 3 price table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6263640" y="1691640"/>
            <a:ext cx="2514600" cy="932688"/>
          </a:xfrm>
          <a:prstGeom prst="rect">
            <a:avLst/>
          </a:prstGeom>
          <a:solidFill>
            <a:srgbClr val="F2F8F9"/>
          </a:solidFill>
          <a:ln w="9525">
            <a:solidFill>
              <a:srgbClr val="E6F1F4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428232" y="1719072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778B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SAR 62.0M</a:t>
            </a:r>
            <a:endParaRPr lang="en-US" sz="2200" dirty="0"/>
          </a:p>
        </p:txBody>
      </p:sp>
      <p:sp>
        <p:nvSpPr>
          <p:cNvPr id="20" name="Text 17"/>
          <p:cNvSpPr txBox="1"/>
          <p:nvPr/>
        </p:nvSpPr>
        <p:spPr>
          <a:xfrm>
            <a:off x="6428232" y="2130552"/>
            <a:ext cx="2240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D3935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lump-sum price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6428232" y="2350008"/>
            <a:ext cx="2240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68692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excluding 15% VAT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9006840" y="1691640"/>
            <a:ext cx="2514600" cy="932688"/>
          </a:xfrm>
          <a:prstGeom prst="rect">
            <a:avLst/>
          </a:prstGeom>
          <a:solidFill>
            <a:srgbClr val="F2F8F9"/>
          </a:solidFill>
          <a:ln w="9525">
            <a:solidFill>
              <a:srgbClr val="E6F1F4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9171432" y="1719072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778B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36 months</a:t>
            </a:r>
            <a:endParaRPr lang="en-US" sz="2200" dirty="0"/>
          </a:p>
        </p:txBody>
      </p:sp>
      <p:sp>
        <p:nvSpPr>
          <p:cNvPr id="24" name="Text 21"/>
          <p:cNvSpPr txBox="1"/>
          <p:nvPr/>
        </p:nvSpPr>
        <p:spPr>
          <a:xfrm>
            <a:off x="9171432" y="2130552"/>
            <a:ext cx="2240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D3935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contract term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9171432" y="2350008"/>
            <a:ext cx="2240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68692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from Notice to Proceed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777240" y="27432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0778B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WHAT IS DELIVERED AT EACH STATION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777240" y="2999232"/>
            <a:ext cx="3459480" cy="896112"/>
          </a:xfrm>
          <a:prstGeom prst="rect">
            <a:avLst/>
          </a:prstGeom>
          <a:solidFill>
            <a:srgbClr val="FFFFFF"/>
          </a:solidFill>
          <a:ln w="9525">
            <a:solidFill>
              <a:srgbClr val="C8C9C7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914400" y="3063240"/>
            <a:ext cx="3185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778B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CCTV system</a:t>
            </a:r>
            <a:endParaRPr lang="en-US" sz="1200" dirty="0"/>
          </a:p>
        </p:txBody>
      </p:sp>
      <p:sp>
        <p:nvSpPr>
          <p:cNvPr id="29" name="Text 26"/>
          <p:cNvSpPr txBox="1"/>
          <p:nvPr/>
        </p:nvSpPr>
        <p:spPr>
          <a:xfrm>
            <a:off x="914400" y="3328416"/>
            <a:ext cx="3185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D3935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Fixed, 90°, 180° panoramic, tandem PTZ, 360°, face recognition and ANPR cameras with line-crossing and direction analytics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419600" y="2999232"/>
            <a:ext cx="3459480" cy="896112"/>
          </a:xfrm>
          <a:prstGeom prst="rect">
            <a:avLst/>
          </a:prstGeom>
          <a:solidFill>
            <a:srgbClr val="FFFFFF"/>
          </a:solidFill>
          <a:ln w="9525">
            <a:solidFill>
              <a:srgbClr val="C8C9C7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4556760" y="3063240"/>
            <a:ext cx="3185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778B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Video management and video wall</a:t>
            </a:r>
            <a:endParaRPr lang="en-US" sz="1200" dirty="0"/>
          </a:p>
        </p:txBody>
      </p:sp>
      <p:sp>
        <p:nvSpPr>
          <p:cNvPr id="32" name="Text 29"/>
          <p:cNvSpPr txBox="1"/>
          <p:nvPr/>
        </p:nvSpPr>
        <p:spPr>
          <a:xfrm>
            <a:off x="4556760" y="3328416"/>
            <a:ext cx="3185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D3935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Servers, 24-bay storage (8 MP, 15 days, RAID 5), 55-inch video walls and operator workstations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8061960" y="2999232"/>
            <a:ext cx="3459480" cy="896112"/>
          </a:xfrm>
          <a:prstGeom prst="rect">
            <a:avLst/>
          </a:prstGeom>
          <a:solidFill>
            <a:srgbClr val="FFFFFF"/>
          </a:solidFill>
          <a:ln w="9525">
            <a:solidFill>
              <a:srgbClr val="C8C9C7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8199120" y="3063240"/>
            <a:ext cx="3185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778B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Access control and intercom</a:t>
            </a:r>
            <a:endParaRPr lang="en-US" sz="1200" dirty="0"/>
          </a:p>
        </p:txBody>
      </p:sp>
      <p:sp>
        <p:nvSpPr>
          <p:cNvPr id="35" name="Text 32"/>
          <p:cNvSpPr txBox="1"/>
          <p:nvPr/>
        </p:nvSpPr>
        <p:spPr>
          <a:xfrm>
            <a:off x="8199120" y="3328416"/>
            <a:ext cx="3185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D3935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Readers, controllers, magnetic locks, ID-card station and IP door station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777240" y="4005072"/>
            <a:ext cx="3459480" cy="896112"/>
          </a:xfrm>
          <a:prstGeom prst="rect">
            <a:avLst/>
          </a:prstGeom>
          <a:solidFill>
            <a:srgbClr val="FFFFFF"/>
          </a:solidFill>
          <a:ln w="9525">
            <a:solidFill>
              <a:srgbClr val="C8C9C7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914400" y="4069080"/>
            <a:ext cx="3185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778B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UPS, poles and network</a:t>
            </a:r>
            <a:endParaRPr lang="en-US" sz="1200" dirty="0"/>
          </a:p>
        </p:txBody>
      </p:sp>
      <p:sp>
        <p:nvSpPr>
          <p:cNvPr id="38" name="Text 35"/>
          <p:cNvSpPr txBox="1"/>
          <p:nvPr/>
        </p:nvSpPr>
        <p:spPr>
          <a:xfrm>
            <a:off x="914400" y="4334256"/>
            <a:ext cx="3185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D3935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UPS with 2 hours backup, Cisco core and PoE switches, field cabinets, poles, cabling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419600" y="4005072"/>
            <a:ext cx="3459480" cy="896112"/>
          </a:xfrm>
          <a:prstGeom prst="rect">
            <a:avLst/>
          </a:prstGeom>
          <a:solidFill>
            <a:srgbClr val="FFFFFF"/>
          </a:solidFill>
          <a:ln w="9525">
            <a:solidFill>
              <a:srgbClr val="C8C9C7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556760" y="4069080"/>
            <a:ext cx="3185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778B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Civil works</a:t>
            </a:r>
            <a:endParaRPr lang="en-US" sz="1200" dirty="0"/>
          </a:p>
        </p:txBody>
      </p:sp>
      <p:sp>
        <p:nvSpPr>
          <p:cNvPr id="41" name="Text 38"/>
          <p:cNvSpPr txBox="1"/>
          <p:nvPr/>
        </p:nvSpPr>
        <p:spPr>
          <a:xfrm>
            <a:off x="4556760" y="4334256"/>
            <a:ext cx="3185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D3935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Platform trenches, duct banks, camera poles and ALPR poles</a:t>
            </a:r>
            <a:endParaRPr lang="en-US" sz="1100" dirty="0"/>
          </a:p>
        </p:txBody>
      </p:sp>
      <p:sp>
        <p:nvSpPr>
          <p:cNvPr id="42" name="Shape 39"/>
          <p:cNvSpPr/>
          <p:nvPr/>
        </p:nvSpPr>
        <p:spPr>
          <a:xfrm>
            <a:off x="8061960" y="4005072"/>
            <a:ext cx="3459480" cy="896112"/>
          </a:xfrm>
          <a:prstGeom prst="rect">
            <a:avLst/>
          </a:prstGeom>
          <a:solidFill>
            <a:srgbClr val="FFFFFF"/>
          </a:solidFill>
          <a:ln w="9525">
            <a:solidFill>
              <a:srgbClr val="C8C9C7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8199120" y="4069080"/>
            <a:ext cx="3185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778B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Services</a:t>
            </a:r>
            <a:endParaRPr lang="en-US" sz="1200" dirty="0"/>
          </a:p>
        </p:txBody>
      </p:sp>
      <p:sp>
        <p:nvSpPr>
          <p:cNvPr id="44" name="Text 41"/>
          <p:cNvSpPr txBox="1"/>
          <p:nvPr/>
        </p:nvSpPr>
        <p:spPr>
          <a:xfrm>
            <a:off x="8199120" y="4334256"/>
            <a:ext cx="3185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D3935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Design, project management, factory acceptance test, commissioning spares, training, 12-month cloud storage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777240" y="50292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0778B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STATIONS BY RAILWAY  (★ RIYADH PRIORITY)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777240" y="5303520"/>
            <a:ext cx="566928" cy="228600"/>
          </a:xfrm>
          <a:prstGeom prst="rect">
            <a:avLst/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777240" y="5303520"/>
            <a:ext cx="5669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NSR</a:t>
            </a:r>
            <a:endParaRPr lang="en-US" sz="1100" dirty="0"/>
          </a:p>
        </p:txBody>
      </p:sp>
      <p:sp>
        <p:nvSpPr>
          <p:cNvPr id="48" name="Text 45"/>
          <p:cNvSpPr txBox="1"/>
          <p:nvPr/>
        </p:nvSpPr>
        <p:spPr>
          <a:xfrm>
            <a:off x="1463040" y="5303520"/>
            <a:ext cx="5394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D3935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Riyadh Thumamah ★ · Al Majma'ah · Qassim · Hail · Al Jouf · Qurayyat</a:t>
            </a:r>
            <a:endParaRPr lang="en-US" sz="1100" dirty="0"/>
          </a:p>
        </p:txBody>
      </p:sp>
      <p:sp>
        <p:nvSpPr>
          <p:cNvPr id="49" name="Shape 46"/>
          <p:cNvSpPr/>
          <p:nvPr/>
        </p:nvSpPr>
        <p:spPr>
          <a:xfrm>
            <a:off x="777240" y="5577840"/>
            <a:ext cx="566928" cy="228600"/>
          </a:xfrm>
          <a:prstGeom prst="rect">
            <a:avLst/>
          </a:prstGeom>
          <a:solidFill>
            <a:srgbClr val="F1B434"/>
          </a:solidFill>
          <a:ln w="12700">
            <a:solidFill>
              <a:srgbClr val="F1B434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777240" y="5577840"/>
            <a:ext cx="5669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D3935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EWR</a:t>
            </a: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1463040" y="5577840"/>
            <a:ext cx="5394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D3935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Riyadh Malaz ★ · Dammam · Hufuf · Abqaiq</a:t>
            </a:r>
            <a:endParaRPr lang="en-US" sz="1100" dirty="0"/>
          </a:p>
        </p:txBody>
      </p:sp>
      <p:sp>
        <p:nvSpPr>
          <p:cNvPr id="52" name="Shape 49"/>
          <p:cNvSpPr/>
          <p:nvPr/>
        </p:nvSpPr>
        <p:spPr>
          <a:xfrm>
            <a:off x="777240" y="5852160"/>
            <a:ext cx="566928" cy="228600"/>
          </a:xfrm>
          <a:prstGeom prst="rect">
            <a:avLst/>
          </a:prstGeom>
          <a:solidFill>
            <a:srgbClr val="3D3935"/>
          </a:solidFill>
          <a:ln w="12700">
            <a:solidFill>
              <a:srgbClr val="3D3935"/>
            </a:solidFill>
            <a:prstDash val="solid"/>
          </a:ln>
        </p:spPr>
      </p:sp>
      <p:sp>
        <p:nvSpPr>
          <p:cNvPr id="53" name="Text 50"/>
          <p:cNvSpPr txBox="1"/>
          <p:nvPr/>
        </p:nvSpPr>
        <p:spPr>
          <a:xfrm>
            <a:off x="777240" y="5852160"/>
            <a:ext cx="5669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HHR</a:t>
            </a:r>
            <a:endParaRPr lang="en-US" sz="1100" dirty="0"/>
          </a:p>
        </p:txBody>
      </p:sp>
      <p:sp>
        <p:nvSpPr>
          <p:cNvPr id="54" name="Text 51"/>
          <p:cNvSpPr txBox="1"/>
          <p:nvPr/>
        </p:nvSpPr>
        <p:spPr>
          <a:xfrm>
            <a:off x="1463040" y="5852160"/>
            <a:ext cx="5394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D3935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Jeddah · KAEC · Makkah · Madinah</a:t>
            </a:r>
            <a:endParaRPr lang="en-US" sz="1100" dirty="0"/>
          </a:p>
        </p:txBody>
      </p:sp>
      <p:sp>
        <p:nvSpPr>
          <p:cNvPr id="55" name="Text 52"/>
          <p:cNvSpPr txBox="1"/>
          <p:nvPr/>
        </p:nvSpPr>
        <p:spPr>
          <a:xfrm>
            <a:off x="7178040" y="50292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0778B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BOUNDARIES (ANNEXES 3 AND 4)</a:t>
            </a:r>
            <a:endParaRPr lang="en-US" sz="1100" dirty="0"/>
          </a:p>
        </p:txBody>
      </p:sp>
      <p:sp>
        <p:nvSpPr>
          <p:cNvPr id="56" name="Text 53"/>
          <p:cNvSpPr txBox="1"/>
          <p:nvPr/>
        </p:nvSpPr>
        <p:spPr>
          <a:xfrm>
            <a:off x="7178040" y="5285232"/>
            <a:ext cx="434340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200"/>
              </a:spcAft>
              <a:buSzPct val="100000"/>
              <a:buChar char="■"/>
            </a:pPr>
            <a:r>
              <a:rPr lang="en-US" sz="1100" dirty="0">
                <a:solidFill>
                  <a:srgbClr val="3D3935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Inside the station only, from doors to platforms</a:t>
            </a:r>
            <a:endParaRPr lang="en-US" sz="1100" dirty="0"/>
          </a:p>
          <a:p>
            <a:pPr marL="177800" indent="-177800">
              <a:spcAft>
                <a:spcPts val="200"/>
              </a:spcAft>
              <a:buSzPct val="100000"/>
              <a:buChar char="■"/>
            </a:pPr>
            <a:r>
              <a:rPr lang="en-US" sz="1100" dirty="0">
                <a:solidFill>
                  <a:srgbClr val="3D3935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Excluded: fibre between stations, IP telephony, cyber-security hardening, maintenance programme</a:t>
            </a:r>
            <a:endParaRPr lang="en-US" sz="1100" dirty="0"/>
          </a:p>
          <a:p>
            <a:pPr marL="177800" indent="-177800">
              <a:spcAft>
                <a:spcPts val="200"/>
              </a:spcAft>
              <a:buSzPct val="100000"/>
              <a:buChar char="■"/>
            </a:pPr>
            <a:r>
              <a:rPr lang="en-US" sz="1100" dirty="0">
                <a:solidFill>
                  <a:srgbClr val="3D3935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SAR provides: gate passes, laydown area, network to control rooms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64592"/>
            <a:ext cx="675742" cy="42062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852160" y="274320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68692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Passengers' Security Checking  |  Scope of work (2 of 3)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1338560" y="5303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68692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411480" y="6382512"/>
            <a:ext cx="11365992" cy="0"/>
          </a:xfrm>
          <a:prstGeom prst="line">
            <a:avLst/>
          </a:prstGeom>
          <a:noFill/>
          <a:ln w="12700">
            <a:solidFill>
              <a:srgbClr val="00778B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1521440" y="6272784"/>
            <a:ext cx="219456" cy="21945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411480" y="841248"/>
            <a:ext cx="182880" cy="475488"/>
          </a:xfrm>
          <a:prstGeom prst="parallelogram">
            <a:avLst/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77240" y="804672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778B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Scope in detail: what is priced, by sub-system and railway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126187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68692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Annex 3 price table (Revised-02), SAR million excluding VAT; station sections are priced per station, services per railway</a:t>
            </a:r>
            <a:endParaRPr lang="en-US" sz="1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691640"/>
          <a:ext cx="676656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804672"/>
                <a:gridCol w="804672"/>
                <a:gridCol w="804672"/>
                <a:gridCol w="804672"/>
                <a:gridCol w="804672"/>
              </a:tblGrid>
              <a:tr h="23957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Sub-system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78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NSR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78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EWR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78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HHR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78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Total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78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Share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78B"/>
                    </a:solidFill>
                  </a:tcPr>
                </a:tc>
              </a:tr>
              <a:tr h="23957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CCTV system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2.03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0.86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4.94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7.83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12.6%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9"/>
                    </a:solidFill>
                  </a:tcPr>
                </a:tc>
              </a:tr>
              <a:tr h="23957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Video management and video wall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2.21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1.40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2.02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5.63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9.1%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957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Access control and intercom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0.26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0.18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0.18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0.62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1.0%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9"/>
                    </a:solidFill>
                  </a:tcPr>
                </a:tc>
              </a:tr>
              <a:tr h="23957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UPS (2 hours backup)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0.34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0.20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0.37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0.91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1.5%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957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Poles, field cabinets and network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5.18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2.02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8.59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15.79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25.5%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9"/>
                    </a:solidFill>
                  </a:tcPr>
                </a:tc>
              </a:tr>
              <a:tr h="23957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Civil works (trenches, duct banks, poles)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4.47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2.44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1.57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8.49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13.7%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957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Design and engineering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0.49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0.31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1.06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1.86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3.0%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9"/>
                    </a:solidFill>
                  </a:tcPr>
                </a:tc>
              </a:tr>
              <a:tr h="23957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Project management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4.39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2.80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9.47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16.66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26.9%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957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Factory acceptance test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0.20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0.20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0.20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0.61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1.0%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9"/>
                    </a:solidFill>
                  </a:tcPr>
                </a:tc>
              </a:tr>
              <a:tr h="23957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Commissioning spares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0.39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0.38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0.55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1.33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2.1%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957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Training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0.04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0.07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0.07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0.17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0.3%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9"/>
                    </a:solidFill>
                  </a:tcPr>
                </a:tc>
              </a:tr>
              <a:tr h="23957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Cloud storage, 12 months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0.48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0.26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1.38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2.12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3.4%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957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0778B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Total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0778B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20.50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0778B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11.11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0778B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30.39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0778B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62.00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0778B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100%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1F4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 txBox="1"/>
          <p:nvPr/>
        </p:nvSpPr>
        <p:spPr>
          <a:xfrm>
            <a:off x="777240" y="5120640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768692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The first six rows are priced per station; the last six are the shared packages of each railway.</a:t>
            </a:r>
            <a:endParaRPr lang="en-US" sz="10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7772400" y="1627632"/>
          <a:ext cx="3749040" cy="3611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Shape 8"/>
          <p:cNvSpPr/>
          <p:nvPr/>
        </p:nvSpPr>
        <p:spPr>
          <a:xfrm>
            <a:off x="777240" y="5504688"/>
            <a:ext cx="3459480" cy="731520"/>
          </a:xfrm>
          <a:prstGeom prst="rect">
            <a:avLst/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941832" y="5504688"/>
            <a:ext cx="3185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NSR   </a:t>
            </a:r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SAR 20.50M</a:t>
            </a:r>
            <a:endParaRPr lang="en-US" sz="16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528 cameras · 6 stations</a:t>
            </a:r>
            <a:endParaRPr lang="en-US" sz="1600" dirty="0"/>
          </a:p>
        </p:txBody>
      </p:sp>
      <p:sp>
        <p:nvSpPr>
          <p:cNvPr id="15" name="Shape 10"/>
          <p:cNvSpPr/>
          <p:nvPr/>
        </p:nvSpPr>
        <p:spPr>
          <a:xfrm>
            <a:off x="4419600" y="5504688"/>
            <a:ext cx="3459480" cy="731520"/>
          </a:xfrm>
          <a:prstGeom prst="rect">
            <a:avLst/>
          </a:prstGeom>
          <a:solidFill>
            <a:srgbClr val="F1B434"/>
          </a:solidFill>
          <a:ln w="12700">
            <a:solidFill>
              <a:srgbClr val="F1B434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4584192" y="5504688"/>
            <a:ext cx="3185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D3935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EWR   </a:t>
            </a:r>
            <a:pPr indent="0" marL="0">
              <a:buNone/>
            </a:pPr>
            <a:r>
              <a:rPr lang="en-US" sz="1600" b="1" dirty="0">
                <a:solidFill>
                  <a:srgbClr val="3D3935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SAR 11.11M</a:t>
            </a:r>
            <a:endParaRPr lang="en-US" sz="1600" dirty="0"/>
          </a:p>
          <a:p>
            <a:pPr indent="0" marL="0">
              <a:buNone/>
            </a:pPr>
            <a:r>
              <a:rPr lang="en-US" sz="1100" dirty="0">
                <a:solidFill>
                  <a:srgbClr val="3D3935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228 cameras · 4 stations</a:t>
            </a:r>
            <a:endParaRPr lang="en-US" sz="1600" dirty="0"/>
          </a:p>
        </p:txBody>
      </p:sp>
      <p:sp>
        <p:nvSpPr>
          <p:cNvPr id="17" name="Shape 12"/>
          <p:cNvSpPr/>
          <p:nvPr/>
        </p:nvSpPr>
        <p:spPr>
          <a:xfrm>
            <a:off x="8061960" y="5504688"/>
            <a:ext cx="3459480" cy="731520"/>
          </a:xfrm>
          <a:prstGeom prst="rect">
            <a:avLst/>
          </a:prstGeom>
          <a:solidFill>
            <a:srgbClr val="3D3935"/>
          </a:solidFill>
          <a:ln w="12700">
            <a:solidFill>
              <a:srgbClr val="3D3935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8226552" y="5504688"/>
            <a:ext cx="3185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HHR   </a:t>
            </a:r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SAR 30.39M</a:t>
            </a:r>
            <a:endParaRPr lang="en-US" sz="16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1,725 cameras · 4 stations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64592"/>
            <a:ext cx="675742" cy="42062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852160" y="274320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68692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Passengers' Security Checking  |  Scope of work (3 of 3)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1338560" y="5303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68692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4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411480" y="6382512"/>
            <a:ext cx="11365992" cy="0"/>
          </a:xfrm>
          <a:prstGeom prst="line">
            <a:avLst/>
          </a:prstGeom>
          <a:noFill/>
          <a:ln w="12700">
            <a:solidFill>
              <a:srgbClr val="00778B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1521440" y="6272784"/>
            <a:ext cx="219456" cy="21945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411480" y="841248"/>
            <a:ext cx="182880" cy="475488"/>
          </a:xfrm>
          <a:prstGeom prst="parallelogram">
            <a:avLst/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77240" y="804672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778B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Scope in detail: obligations, acceptance and conditions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126187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68692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From the contract body, Annex 2 (SAR Scope of Work), Annex 3 terms and Annex 4 clarifications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77240" y="1664208"/>
            <a:ext cx="3459480" cy="2176272"/>
          </a:xfrm>
          <a:prstGeom prst="rect">
            <a:avLst/>
          </a:prstGeom>
          <a:solidFill>
            <a:srgbClr val="FFFFFF"/>
          </a:solidFill>
          <a:ln w="9525">
            <a:solidFill>
              <a:srgbClr val="C8C9C7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923544" y="1737360"/>
            <a:ext cx="3185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778B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Contractor obligations (Annex 2)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923544" y="2048256"/>
            <a:ext cx="3185160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■"/>
            </a:pPr>
            <a:r>
              <a:rPr lang="en-US" sz="1100" dirty="0">
                <a:solidFill>
                  <a:srgbClr val="3D3935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Verify existing site conditions before design</a:t>
            </a:r>
            <a:endParaRPr lang="en-US" sz="1100" dirty="0"/>
          </a:p>
          <a:p>
            <a:pPr marL="152400" indent="-152400">
              <a:spcAft>
                <a:spcPts val="400"/>
              </a:spcAft>
              <a:buSzPct val="100000"/>
              <a:buChar char="■"/>
            </a:pPr>
            <a:r>
              <a:rPr lang="en-US" sz="1100" dirty="0">
                <a:solidFill>
                  <a:srgbClr val="3D3935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Detailed design, BOQ with unit rates</a:t>
            </a:r>
            <a:endParaRPr lang="en-US" sz="1100" dirty="0"/>
          </a:p>
          <a:p>
            <a:pPr marL="152400" indent="-152400">
              <a:spcAft>
                <a:spcPts val="400"/>
              </a:spcAft>
              <a:buSzPct val="100000"/>
              <a:buChar char="■"/>
            </a:pPr>
            <a:r>
              <a:rPr lang="en-US" sz="1100" dirty="0">
                <a:solidFill>
                  <a:srgbClr val="3D3935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Mobilization: insurance, QC and ITP, HSE plan</a:t>
            </a:r>
            <a:endParaRPr lang="en-US" sz="1100" dirty="0"/>
          </a:p>
          <a:p>
            <a:pPr marL="152400" indent="-152400">
              <a:spcAft>
                <a:spcPts val="400"/>
              </a:spcAft>
              <a:buSzPct val="100000"/>
              <a:buChar char="■"/>
            </a:pPr>
            <a:r>
              <a:rPr lang="en-US" sz="1100" dirty="0">
                <a:solidFill>
                  <a:srgbClr val="3D3935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As-builts, O&amp;M manuals, 5-year spares list</a:t>
            </a:r>
            <a:endParaRPr lang="en-US" sz="1100" dirty="0"/>
          </a:p>
          <a:p>
            <a:pPr marL="152400" indent="-152400">
              <a:spcAft>
                <a:spcPts val="400"/>
              </a:spcAft>
              <a:buSzPct val="100000"/>
              <a:buChar char="■"/>
            </a:pPr>
            <a:r>
              <a:rPr lang="en-US" sz="1100" dirty="0">
                <a:solidFill>
                  <a:srgbClr val="3D3935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Zoned work that never disturbs operations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419600" y="1664208"/>
            <a:ext cx="3459480" cy="2176272"/>
          </a:xfrm>
          <a:prstGeom prst="rect">
            <a:avLst/>
          </a:prstGeom>
          <a:solidFill>
            <a:srgbClr val="F2F8F9"/>
          </a:solidFill>
          <a:ln w="9525">
            <a:solidFill>
              <a:srgbClr val="C8C9C7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565904" y="1737360"/>
            <a:ext cx="3185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778B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Planning and reporting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4565904" y="2048256"/>
            <a:ext cx="3185160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■"/>
            </a:pPr>
            <a:r>
              <a:rPr lang="en-US" sz="1100" dirty="0">
                <a:solidFill>
                  <a:srgbClr val="3D3935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Primavera baseline in 10 days, detailed in 21</a:t>
            </a:r>
            <a:endParaRPr lang="en-US" sz="1100" dirty="0"/>
          </a:p>
          <a:p>
            <a:pPr marL="152400" indent="-152400">
              <a:spcAft>
                <a:spcPts val="400"/>
              </a:spcAft>
              <a:buSzPct val="100000"/>
              <a:buChar char="■"/>
            </a:pPr>
            <a:r>
              <a:rPr lang="en-US" sz="1100" dirty="0">
                <a:solidFill>
                  <a:srgbClr val="3D3935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SAR review of submissions: 21 days at most</a:t>
            </a:r>
            <a:endParaRPr lang="en-US" sz="1100" dirty="0"/>
          </a:p>
          <a:p>
            <a:pPr marL="152400" indent="-152400">
              <a:spcAft>
                <a:spcPts val="400"/>
              </a:spcAft>
              <a:buSzPct val="100000"/>
              <a:buChar char="■"/>
            </a:pPr>
            <a:r>
              <a:rPr lang="en-US" sz="1100" dirty="0">
                <a:solidFill>
                  <a:srgbClr val="3D3935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Level 3/4 per unit, consolidated to Level 2</a:t>
            </a:r>
            <a:endParaRPr lang="en-US" sz="1100" dirty="0"/>
          </a:p>
          <a:p>
            <a:pPr marL="152400" indent="-152400">
              <a:spcAft>
                <a:spcPts val="400"/>
              </a:spcAft>
              <a:buSzPct val="100000"/>
              <a:buChar char="■"/>
            </a:pPr>
            <a:r>
              <a:rPr lang="en-US" sz="1100" dirty="0">
                <a:solidFill>
                  <a:srgbClr val="3D3935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S-curves: design, procurement, construction</a:t>
            </a:r>
            <a:endParaRPr lang="en-US" sz="1100" dirty="0"/>
          </a:p>
          <a:p>
            <a:pPr marL="152400" indent="-152400">
              <a:spcAft>
                <a:spcPts val="400"/>
              </a:spcAft>
              <a:buSzPct val="100000"/>
              <a:buChar char="■"/>
            </a:pPr>
            <a:r>
              <a:rPr lang="en-US" sz="1100" dirty="0">
                <a:solidFill>
                  <a:srgbClr val="3D3935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Weekly data; bi-weekly and monthly reports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8061960" y="1664208"/>
            <a:ext cx="3459480" cy="2176272"/>
          </a:xfrm>
          <a:prstGeom prst="rect">
            <a:avLst/>
          </a:prstGeom>
          <a:solidFill>
            <a:srgbClr val="FFFFFF"/>
          </a:solidFill>
          <a:ln w="9525">
            <a:solidFill>
              <a:srgbClr val="C8C9C7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08264" y="1737360"/>
            <a:ext cx="3185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778B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Testing, acceptance and warranty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8208264" y="2048256"/>
            <a:ext cx="3185160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■"/>
            </a:pPr>
            <a:r>
              <a:rPr lang="en-US" sz="1100" dirty="0">
                <a:solidFill>
                  <a:srgbClr val="3D3935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FAT at vendor premises (China, or Dubai)</a:t>
            </a:r>
            <a:endParaRPr lang="en-US" sz="1100" dirty="0"/>
          </a:p>
          <a:p>
            <a:pPr marL="152400" indent="-152400">
              <a:spcAft>
                <a:spcPts val="400"/>
              </a:spcAft>
              <a:buSzPct val="100000"/>
              <a:buChar char="■"/>
            </a:pPr>
            <a:r>
              <a:rPr lang="en-US" sz="1100" dirty="0">
                <a:solidFill>
                  <a:srgbClr val="3D3935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SAT, then trial operation up to 45 days</a:t>
            </a:r>
            <a:endParaRPr lang="en-US" sz="1100" dirty="0"/>
          </a:p>
          <a:p>
            <a:pPr marL="152400" indent="-152400">
              <a:spcAft>
                <a:spcPts val="400"/>
              </a:spcAft>
              <a:buSzPct val="100000"/>
              <a:buChar char="■"/>
            </a:pPr>
            <a:r>
              <a:rPr lang="en-US" sz="1100" dirty="0">
                <a:solidFill>
                  <a:srgbClr val="3D3935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Taking-Over Certificate in 30 days, punch list 45</a:t>
            </a:r>
            <a:endParaRPr lang="en-US" sz="1100" dirty="0"/>
          </a:p>
          <a:p>
            <a:pPr marL="152400" indent="-152400">
              <a:spcAft>
                <a:spcPts val="400"/>
              </a:spcAft>
              <a:buSzPct val="100000"/>
              <a:buChar char="■"/>
            </a:pPr>
            <a:r>
              <a:rPr lang="en-US" sz="1100" dirty="0">
                <a:solidFill>
                  <a:srgbClr val="3D3935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Defects liability 1 year; Dahua 5 yrs, Cisco 1 yr</a:t>
            </a:r>
            <a:endParaRPr lang="en-US" sz="1100" dirty="0"/>
          </a:p>
          <a:p>
            <a:pPr marL="152400" indent="-152400">
              <a:spcAft>
                <a:spcPts val="400"/>
              </a:spcAft>
              <a:buSzPct val="100000"/>
              <a:buChar char="■"/>
            </a:pPr>
            <a:r>
              <a:rPr lang="en-US" sz="1100" dirty="0">
                <a:solidFill>
                  <a:srgbClr val="3D3935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Performance Certificate 28 days after last expiry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777240" y="3931920"/>
            <a:ext cx="3459480" cy="2176272"/>
          </a:xfrm>
          <a:prstGeom prst="rect">
            <a:avLst/>
          </a:prstGeom>
          <a:solidFill>
            <a:srgbClr val="F2F8F9"/>
          </a:solidFill>
          <a:ln w="9525">
            <a:solidFill>
              <a:srgbClr val="C8C9C7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23544" y="4005072"/>
            <a:ext cx="3185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778B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Boundaries and conditions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923544" y="4315968"/>
            <a:ext cx="3185160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■"/>
            </a:pPr>
            <a:r>
              <a:rPr lang="en-US" sz="1100" dirty="0">
                <a:solidFill>
                  <a:srgbClr val="3D3935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Inside stations only, doors to platforms</a:t>
            </a:r>
            <a:endParaRPr lang="en-US" sz="1100" dirty="0"/>
          </a:p>
          <a:p>
            <a:pPr marL="152400" indent="-152400">
              <a:spcAft>
                <a:spcPts val="400"/>
              </a:spcAft>
              <a:buSzPct val="100000"/>
              <a:buChar char="■"/>
            </a:pPr>
            <a:r>
              <a:rPr lang="en-US" sz="1100" dirty="0">
                <a:solidFill>
                  <a:srgbClr val="3D3935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Excluded: inter-station fibre, IP telephony, cyber-security, maintenance</a:t>
            </a:r>
            <a:endParaRPr lang="en-US" sz="1100" dirty="0"/>
          </a:p>
          <a:p>
            <a:pPr marL="152400" indent="-152400">
              <a:spcAft>
                <a:spcPts val="400"/>
              </a:spcAft>
              <a:buSzPct val="100000"/>
              <a:buChar char="■"/>
            </a:pPr>
            <a:r>
              <a:rPr lang="en-US" sz="1100" dirty="0">
                <a:solidFill>
                  <a:srgbClr val="3D3935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SAR provides passes, laydown area, control-room network</a:t>
            </a:r>
            <a:endParaRPr lang="en-US" sz="1100" dirty="0"/>
          </a:p>
          <a:p>
            <a:pPr marL="152400" indent="-152400">
              <a:spcAft>
                <a:spcPts val="400"/>
              </a:spcAft>
              <a:buSzPct val="100000"/>
              <a:buChar char="■"/>
            </a:pPr>
            <a:r>
              <a:rPr lang="en-US" sz="1100" dirty="0">
                <a:solidFill>
                  <a:srgbClr val="3D3935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Third-party integration: open API, extra cost</a:t>
            </a:r>
            <a:endParaRPr lang="en-US" sz="1100" dirty="0"/>
          </a:p>
          <a:p>
            <a:pPr marL="152400" indent="-152400">
              <a:spcAft>
                <a:spcPts val="400"/>
              </a:spcAft>
              <a:buSzPct val="100000"/>
              <a:buChar char="■"/>
            </a:pPr>
            <a:r>
              <a:rPr lang="en-US" sz="1100" dirty="0">
                <a:solidFill>
                  <a:srgbClr val="3D3935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Fast-track project (Annex 4, item 33); Madinah at 50%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4419600" y="3931920"/>
            <a:ext cx="3459480" cy="2176272"/>
          </a:xfrm>
          <a:prstGeom prst="rect">
            <a:avLst/>
          </a:prstGeom>
          <a:solidFill>
            <a:srgbClr val="FFFFFF"/>
          </a:solidFill>
          <a:ln w="9525">
            <a:solidFill>
              <a:srgbClr val="C8C9C7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4565904" y="4005072"/>
            <a:ext cx="3185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778B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Commercial terms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4565904" y="4315968"/>
            <a:ext cx="3185160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■"/>
            </a:pPr>
            <a:r>
              <a:rPr lang="en-US" sz="1100" dirty="0">
                <a:solidFill>
                  <a:srgbClr val="3D3935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Price SAR 62.0M ex-VAT; variation +10% / -20%</a:t>
            </a:r>
            <a:endParaRPr lang="en-US" sz="1100" dirty="0"/>
          </a:p>
          <a:p>
            <a:pPr marL="152400" indent="-152400">
              <a:spcAft>
                <a:spcPts val="400"/>
              </a:spcAft>
              <a:buSzPct val="100000"/>
              <a:buChar char="■"/>
            </a:pPr>
            <a:r>
              <a:rPr lang="en-US" sz="1100" dirty="0">
                <a:solidFill>
                  <a:srgbClr val="3D3935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Payment 20/10/10/20/20/10/10% by milestone</a:t>
            </a:r>
            <a:endParaRPr lang="en-US" sz="1100" dirty="0"/>
          </a:p>
          <a:p>
            <a:pPr marL="152400" indent="-152400">
              <a:spcAft>
                <a:spcPts val="400"/>
              </a:spcAft>
              <a:buSzPct val="100000"/>
              <a:buChar char="■"/>
            </a:pPr>
            <a:r>
              <a:rPr lang="en-US" sz="1100" dirty="0">
                <a:solidFill>
                  <a:srgbClr val="3D3935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Delay damages 0.2% a day, capped at 10%</a:t>
            </a:r>
            <a:endParaRPr lang="en-US" sz="1100" dirty="0"/>
          </a:p>
          <a:p>
            <a:pPr marL="152400" indent="-152400">
              <a:spcAft>
                <a:spcPts val="400"/>
              </a:spcAft>
              <a:buSzPct val="100000"/>
              <a:buChar char="■"/>
            </a:pPr>
            <a:r>
              <a:rPr lang="en-US" sz="1100" dirty="0">
                <a:solidFill>
                  <a:srgbClr val="3D3935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Performance bond 5%; liability cap = price</a:t>
            </a:r>
            <a:endParaRPr lang="en-US" sz="1100" dirty="0"/>
          </a:p>
          <a:p>
            <a:pPr marL="152400" indent="-152400">
              <a:spcAft>
                <a:spcPts val="400"/>
              </a:spcAft>
              <a:buSzPct val="100000"/>
              <a:buChar char="■"/>
            </a:pPr>
            <a:r>
              <a:rPr lang="en-US" sz="1100" dirty="0">
                <a:solidFill>
                  <a:srgbClr val="3D3935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Optional, unpriced: control-room servers, PSIM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8061960" y="3931920"/>
            <a:ext cx="3459480" cy="2176272"/>
          </a:xfrm>
          <a:prstGeom prst="rect">
            <a:avLst/>
          </a:prstGeom>
          <a:solidFill>
            <a:srgbClr val="F2F8F9"/>
          </a:solidFill>
          <a:ln w="9525">
            <a:solidFill>
              <a:srgbClr val="C8C9C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208264" y="4005072"/>
            <a:ext cx="3185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778B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Personnel and quality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8208264" y="4315968"/>
            <a:ext cx="3185160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■"/>
            </a:pPr>
            <a:r>
              <a:rPr lang="en-US" sz="1100" dirty="0">
                <a:solidFill>
                  <a:srgbClr val="3D3935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Key personnel approved by SAR; Saudization</a:t>
            </a:r>
            <a:endParaRPr lang="en-US" sz="1100" dirty="0"/>
          </a:p>
          <a:p>
            <a:pPr marL="152400" indent="-152400">
              <a:spcAft>
                <a:spcPts val="400"/>
              </a:spcAft>
              <a:buSzPct val="100000"/>
              <a:buChar char="■"/>
            </a:pPr>
            <a:r>
              <a:rPr lang="en-US" sz="1100" dirty="0">
                <a:solidFill>
                  <a:srgbClr val="3D3935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ISO 9001:2015; HCIS, NFPA 70, SBC 2019, SASO</a:t>
            </a:r>
            <a:endParaRPr lang="en-US" sz="1100" dirty="0"/>
          </a:p>
          <a:p>
            <a:pPr marL="152400" indent="-152400">
              <a:spcAft>
                <a:spcPts val="400"/>
              </a:spcAft>
              <a:buSzPct val="100000"/>
              <a:buChar char="■"/>
            </a:pPr>
            <a:r>
              <a:rPr lang="en-US" sz="1100" dirty="0">
                <a:solidFill>
                  <a:srgbClr val="3D3935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WARA risk assessment near operating track</a:t>
            </a:r>
            <a:endParaRPr lang="en-US" sz="1100" dirty="0"/>
          </a:p>
          <a:p>
            <a:pPr marL="152400" indent="-152400">
              <a:spcAft>
                <a:spcPts val="400"/>
              </a:spcAft>
              <a:buSzPct val="100000"/>
              <a:buChar char="■"/>
            </a:pPr>
            <a:r>
              <a:rPr lang="en-US" sz="1100" dirty="0">
                <a:solidFill>
                  <a:srgbClr val="3D3935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PTS and protection-officer training for track</a:t>
            </a:r>
            <a:endParaRPr lang="en-US" sz="1100" dirty="0"/>
          </a:p>
          <a:p>
            <a:pPr marL="152400" indent="-152400">
              <a:spcAft>
                <a:spcPts val="400"/>
              </a:spcAft>
              <a:buSzPct val="100000"/>
              <a:buChar char="■"/>
            </a:pPr>
            <a:r>
              <a:rPr lang="en-US" sz="1100" dirty="0">
                <a:solidFill>
                  <a:srgbClr val="3D3935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Supplier spares available for 15 years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64592"/>
            <a:ext cx="675742" cy="42062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852160" y="274320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68692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Passengers' Security Checking  |  Schedule, Level 2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1338560" y="5303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68692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411480" y="6382512"/>
            <a:ext cx="11365992" cy="0"/>
          </a:xfrm>
          <a:prstGeom prst="line">
            <a:avLst/>
          </a:prstGeom>
          <a:noFill/>
          <a:ln w="12700">
            <a:solidFill>
              <a:srgbClr val="00778B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1521440" y="6272784"/>
            <a:ext cx="219456" cy="21945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411480" y="841248"/>
            <a:ext cx="182880" cy="475488"/>
          </a:xfrm>
          <a:prstGeom prst="parallelogram">
            <a:avLst/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77240" y="804672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778B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Level 2 schedule: Riyadh first, last station accepted at month 36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126187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68692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Level 1 project, Level 2 priority package and railways; months from Notice to Proceed (assumed 1 Nov 2026)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297680" y="1737360"/>
            <a:ext cx="601980" cy="274320"/>
          </a:xfrm>
          <a:prstGeom prst="rect">
            <a:avLst/>
          </a:prstGeom>
          <a:solidFill>
            <a:srgbClr val="F2F8F9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297680" y="1737360"/>
            <a:ext cx="6019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778B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Q1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4899660" y="1737360"/>
            <a:ext cx="601980" cy="274320"/>
          </a:xfrm>
          <a:prstGeom prst="rect">
            <a:avLst/>
          </a:prstGeom>
          <a:solidFill>
            <a:srgbClr val="E6F1F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899660" y="1737360"/>
            <a:ext cx="6019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778B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Q2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5501640" y="1737360"/>
            <a:ext cx="601980" cy="274320"/>
          </a:xfrm>
          <a:prstGeom prst="rect">
            <a:avLst/>
          </a:prstGeom>
          <a:solidFill>
            <a:srgbClr val="F2F8F9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501640" y="1737360"/>
            <a:ext cx="6019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778B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Q3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6103620" y="1737360"/>
            <a:ext cx="601980" cy="274320"/>
          </a:xfrm>
          <a:prstGeom prst="rect">
            <a:avLst/>
          </a:prstGeom>
          <a:solidFill>
            <a:srgbClr val="E6F1F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103620" y="1737360"/>
            <a:ext cx="6019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778B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Q4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6705600" y="1737360"/>
            <a:ext cx="601980" cy="274320"/>
          </a:xfrm>
          <a:prstGeom prst="rect">
            <a:avLst/>
          </a:prstGeom>
          <a:solidFill>
            <a:srgbClr val="F2F8F9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705600" y="1737360"/>
            <a:ext cx="6019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778B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Q5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7307580" y="1737360"/>
            <a:ext cx="601980" cy="274320"/>
          </a:xfrm>
          <a:prstGeom prst="rect">
            <a:avLst/>
          </a:prstGeom>
          <a:solidFill>
            <a:srgbClr val="E6F1F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7307580" y="1737360"/>
            <a:ext cx="6019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778B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Q6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7909560" y="1737360"/>
            <a:ext cx="601980" cy="274320"/>
          </a:xfrm>
          <a:prstGeom prst="rect">
            <a:avLst/>
          </a:prstGeom>
          <a:solidFill>
            <a:srgbClr val="F2F8F9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7909560" y="1737360"/>
            <a:ext cx="6019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778B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Q7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8511540" y="1737360"/>
            <a:ext cx="601980" cy="274320"/>
          </a:xfrm>
          <a:prstGeom prst="rect">
            <a:avLst/>
          </a:prstGeom>
          <a:solidFill>
            <a:srgbClr val="E6F1F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8511540" y="1737360"/>
            <a:ext cx="6019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778B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Q8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9113520" y="1737360"/>
            <a:ext cx="601980" cy="274320"/>
          </a:xfrm>
          <a:prstGeom prst="rect">
            <a:avLst/>
          </a:prstGeom>
          <a:solidFill>
            <a:srgbClr val="F2F8F9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9113520" y="1737360"/>
            <a:ext cx="6019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778B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Q9</a:t>
            </a:r>
            <a:endParaRPr lang="en-US" sz="1000" dirty="0"/>
          </a:p>
        </p:txBody>
      </p:sp>
      <p:sp>
        <p:nvSpPr>
          <p:cNvPr id="28" name="Shape 25"/>
          <p:cNvSpPr/>
          <p:nvPr/>
        </p:nvSpPr>
        <p:spPr>
          <a:xfrm>
            <a:off x="9715500" y="1737360"/>
            <a:ext cx="601980" cy="274320"/>
          </a:xfrm>
          <a:prstGeom prst="rect">
            <a:avLst/>
          </a:prstGeom>
          <a:solidFill>
            <a:srgbClr val="E6F1F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9715500" y="1737360"/>
            <a:ext cx="6019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778B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Q10</a:t>
            </a:r>
            <a:endParaRPr lang="en-US" sz="1000" dirty="0"/>
          </a:p>
        </p:txBody>
      </p:sp>
      <p:sp>
        <p:nvSpPr>
          <p:cNvPr id="30" name="Shape 27"/>
          <p:cNvSpPr/>
          <p:nvPr/>
        </p:nvSpPr>
        <p:spPr>
          <a:xfrm>
            <a:off x="10317480" y="1737360"/>
            <a:ext cx="601980" cy="274320"/>
          </a:xfrm>
          <a:prstGeom prst="rect">
            <a:avLst/>
          </a:prstGeom>
          <a:solidFill>
            <a:srgbClr val="F2F8F9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10317480" y="1737360"/>
            <a:ext cx="6019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778B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Q11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10919460" y="1737360"/>
            <a:ext cx="601980" cy="274320"/>
          </a:xfrm>
          <a:prstGeom prst="rect">
            <a:avLst/>
          </a:prstGeom>
          <a:solidFill>
            <a:srgbClr val="E6F1F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0919460" y="1737360"/>
            <a:ext cx="6019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778B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Q12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4069080" y="202082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768692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M0</a:t>
            </a:r>
            <a:endParaRPr lang="en-US" sz="900" dirty="0"/>
          </a:p>
        </p:txBody>
      </p:sp>
      <p:sp>
        <p:nvSpPr>
          <p:cNvPr id="35" name="Text 32"/>
          <p:cNvSpPr txBox="1"/>
          <p:nvPr/>
        </p:nvSpPr>
        <p:spPr>
          <a:xfrm>
            <a:off x="5273040" y="202082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768692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M6</a:t>
            </a:r>
            <a:endParaRPr lang="en-US" sz="900" dirty="0"/>
          </a:p>
        </p:txBody>
      </p:sp>
      <p:sp>
        <p:nvSpPr>
          <p:cNvPr id="36" name="Text 33"/>
          <p:cNvSpPr txBox="1"/>
          <p:nvPr/>
        </p:nvSpPr>
        <p:spPr>
          <a:xfrm>
            <a:off x="6477000" y="202082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768692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M12</a:t>
            </a:r>
            <a:endParaRPr lang="en-US" sz="900" dirty="0"/>
          </a:p>
        </p:txBody>
      </p:sp>
      <p:sp>
        <p:nvSpPr>
          <p:cNvPr id="37" name="Text 34"/>
          <p:cNvSpPr txBox="1"/>
          <p:nvPr/>
        </p:nvSpPr>
        <p:spPr>
          <a:xfrm>
            <a:off x="7680960" y="202082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768692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M18</a:t>
            </a:r>
            <a:endParaRPr lang="en-US" sz="900" dirty="0"/>
          </a:p>
        </p:txBody>
      </p:sp>
      <p:sp>
        <p:nvSpPr>
          <p:cNvPr id="38" name="Text 35"/>
          <p:cNvSpPr txBox="1"/>
          <p:nvPr/>
        </p:nvSpPr>
        <p:spPr>
          <a:xfrm>
            <a:off x="8884920" y="202082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768692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M24</a:t>
            </a:r>
            <a:endParaRPr lang="en-US" sz="900" dirty="0"/>
          </a:p>
        </p:txBody>
      </p:sp>
      <p:sp>
        <p:nvSpPr>
          <p:cNvPr id="39" name="Text 36"/>
          <p:cNvSpPr txBox="1"/>
          <p:nvPr/>
        </p:nvSpPr>
        <p:spPr>
          <a:xfrm>
            <a:off x="10088880" y="202082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768692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M30</a:t>
            </a:r>
            <a:endParaRPr lang="en-US" sz="900" dirty="0"/>
          </a:p>
        </p:txBody>
      </p:sp>
      <p:sp>
        <p:nvSpPr>
          <p:cNvPr id="40" name="Text 37"/>
          <p:cNvSpPr txBox="1"/>
          <p:nvPr/>
        </p:nvSpPr>
        <p:spPr>
          <a:xfrm>
            <a:off x="11292840" y="202082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768692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M36</a:t>
            </a:r>
            <a:endParaRPr lang="en-US" sz="900" dirty="0"/>
          </a:p>
        </p:txBody>
      </p:sp>
      <p:sp>
        <p:nvSpPr>
          <p:cNvPr id="41" name="Text 38"/>
          <p:cNvSpPr txBox="1"/>
          <p:nvPr/>
        </p:nvSpPr>
        <p:spPr>
          <a:xfrm>
            <a:off x="777240" y="1737360"/>
            <a:ext cx="3429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778B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Activity</a:t>
            </a:r>
            <a:endParaRPr lang="en-US" sz="1100" dirty="0"/>
          </a:p>
        </p:txBody>
      </p:sp>
      <p:sp>
        <p:nvSpPr>
          <p:cNvPr id="42" name="Shape 39"/>
          <p:cNvSpPr/>
          <p:nvPr/>
        </p:nvSpPr>
        <p:spPr>
          <a:xfrm>
            <a:off x="4297680" y="2267712"/>
            <a:ext cx="0" cy="3008376"/>
          </a:xfrm>
          <a:prstGeom prst="line">
            <a:avLst/>
          </a:prstGeom>
          <a:noFill/>
          <a:ln w="6350">
            <a:solidFill>
              <a:srgbClr val="C8C9C7"/>
            </a:solidFill>
            <a:prstDash val="dash"/>
          </a:ln>
        </p:spPr>
      </p:sp>
      <p:sp>
        <p:nvSpPr>
          <p:cNvPr id="43" name="Shape 40"/>
          <p:cNvSpPr/>
          <p:nvPr/>
        </p:nvSpPr>
        <p:spPr>
          <a:xfrm>
            <a:off x="5501640" y="2267712"/>
            <a:ext cx="0" cy="3008376"/>
          </a:xfrm>
          <a:prstGeom prst="line">
            <a:avLst/>
          </a:prstGeom>
          <a:noFill/>
          <a:ln w="6350">
            <a:solidFill>
              <a:srgbClr val="C8C9C7"/>
            </a:solidFill>
            <a:prstDash val="dash"/>
          </a:ln>
        </p:spPr>
      </p:sp>
      <p:sp>
        <p:nvSpPr>
          <p:cNvPr id="44" name="Shape 41"/>
          <p:cNvSpPr/>
          <p:nvPr/>
        </p:nvSpPr>
        <p:spPr>
          <a:xfrm>
            <a:off x="6705600" y="2267712"/>
            <a:ext cx="0" cy="3008376"/>
          </a:xfrm>
          <a:prstGeom prst="line">
            <a:avLst/>
          </a:prstGeom>
          <a:noFill/>
          <a:ln w="6350">
            <a:solidFill>
              <a:srgbClr val="C8C9C7"/>
            </a:solidFill>
            <a:prstDash val="dash"/>
          </a:ln>
        </p:spPr>
      </p:sp>
      <p:sp>
        <p:nvSpPr>
          <p:cNvPr id="45" name="Shape 42"/>
          <p:cNvSpPr/>
          <p:nvPr/>
        </p:nvSpPr>
        <p:spPr>
          <a:xfrm>
            <a:off x="7909560" y="2267712"/>
            <a:ext cx="0" cy="3008376"/>
          </a:xfrm>
          <a:prstGeom prst="line">
            <a:avLst/>
          </a:prstGeom>
          <a:noFill/>
          <a:ln w="6350">
            <a:solidFill>
              <a:srgbClr val="C8C9C7"/>
            </a:solidFill>
            <a:prstDash val="dash"/>
          </a:ln>
        </p:spPr>
      </p:sp>
      <p:sp>
        <p:nvSpPr>
          <p:cNvPr id="46" name="Shape 43"/>
          <p:cNvSpPr/>
          <p:nvPr/>
        </p:nvSpPr>
        <p:spPr>
          <a:xfrm>
            <a:off x="9113520" y="2267712"/>
            <a:ext cx="0" cy="3008376"/>
          </a:xfrm>
          <a:prstGeom prst="line">
            <a:avLst/>
          </a:prstGeom>
          <a:noFill/>
          <a:ln w="6350">
            <a:solidFill>
              <a:srgbClr val="C8C9C7"/>
            </a:solidFill>
            <a:prstDash val="dash"/>
          </a:ln>
        </p:spPr>
      </p:sp>
      <p:sp>
        <p:nvSpPr>
          <p:cNvPr id="47" name="Shape 44"/>
          <p:cNvSpPr/>
          <p:nvPr/>
        </p:nvSpPr>
        <p:spPr>
          <a:xfrm>
            <a:off x="10317480" y="2267712"/>
            <a:ext cx="0" cy="3008376"/>
          </a:xfrm>
          <a:prstGeom prst="line">
            <a:avLst/>
          </a:prstGeom>
          <a:noFill/>
          <a:ln w="6350">
            <a:solidFill>
              <a:srgbClr val="C8C9C7"/>
            </a:solidFill>
            <a:prstDash val="dash"/>
          </a:ln>
        </p:spPr>
      </p:sp>
      <p:sp>
        <p:nvSpPr>
          <p:cNvPr id="48" name="Shape 45"/>
          <p:cNvSpPr/>
          <p:nvPr/>
        </p:nvSpPr>
        <p:spPr>
          <a:xfrm>
            <a:off x="11521440" y="2267712"/>
            <a:ext cx="0" cy="3008376"/>
          </a:xfrm>
          <a:prstGeom prst="line">
            <a:avLst/>
          </a:prstGeom>
          <a:noFill/>
          <a:ln w="6350">
            <a:solidFill>
              <a:srgbClr val="C8C9C7"/>
            </a:solidFill>
            <a:prstDash val="dash"/>
          </a:ln>
        </p:spPr>
      </p:sp>
      <p:sp>
        <p:nvSpPr>
          <p:cNvPr id="49" name="Shape 46"/>
          <p:cNvSpPr/>
          <p:nvPr/>
        </p:nvSpPr>
        <p:spPr>
          <a:xfrm>
            <a:off x="731520" y="2267712"/>
            <a:ext cx="10789920" cy="393192"/>
          </a:xfrm>
          <a:prstGeom prst="rect">
            <a:avLst/>
          </a:prstGeom>
          <a:solidFill>
            <a:srgbClr val="E6F1F4"/>
          </a:solidFill>
          <a:ln w="12700">
            <a:solidFill>
              <a:srgbClr val="E6F1F4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777240" y="2267712"/>
            <a:ext cx="33375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D3935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SAR Passengers' Security Checking</a:t>
            </a:r>
            <a:endParaRPr lang="en-US" sz="1200" dirty="0"/>
          </a:p>
          <a:p>
            <a:pPr indent="0" marL="0">
              <a:buNone/>
            </a:pPr>
            <a:r>
              <a:rPr lang="en-US" sz="900" dirty="0">
                <a:solidFill>
                  <a:srgbClr val="768692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14 stations · SAR 62.00M</a:t>
            </a:r>
            <a:endParaRPr lang="en-US" sz="1200" dirty="0"/>
          </a:p>
        </p:txBody>
      </p:sp>
      <p:sp>
        <p:nvSpPr>
          <p:cNvPr id="51" name="Shape 48"/>
          <p:cNvSpPr/>
          <p:nvPr/>
        </p:nvSpPr>
        <p:spPr>
          <a:xfrm>
            <a:off x="4297680" y="2350008"/>
            <a:ext cx="7223760" cy="237744"/>
          </a:xfrm>
          <a:prstGeom prst="rect">
            <a:avLst/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4370832" y="2350008"/>
            <a:ext cx="71140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NTP at M0, term ends M36</a:t>
            </a:r>
            <a:endParaRPr lang="en-US" sz="1000" dirty="0"/>
          </a:p>
        </p:txBody>
      </p:sp>
      <p:sp>
        <p:nvSpPr>
          <p:cNvPr id="53" name="Text 50"/>
          <p:cNvSpPr txBox="1"/>
          <p:nvPr/>
        </p:nvSpPr>
        <p:spPr>
          <a:xfrm>
            <a:off x="914400" y="2697480"/>
            <a:ext cx="33375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D3935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Mobilization and baseline</a:t>
            </a:r>
            <a:endParaRPr lang="en-US" sz="1200" dirty="0"/>
          </a:p>
          <a:p>
            <a:pPr indent="0" marL="0">
              <a:buNone/>
            </a:pPr>
            <a:r>
              <a:rPr lang="en-US" sz="900" dirty="0">
                <a:solidFill>
                  <a:srgbClr val="768692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Baseline in 10 days, detailed one 21 days after survey</a:t>
            </a:r>
            <a:endParaRPr lang="en-US" sz="1200" dirty="0"/>
          </a:p>
        </p:txBody>
      </p:sp>
      <p:sp>
        <p:nvSpPr>
          <p:cNvPr id="54" name="Shape 51"/>
          <p:cNvSpPr/>
          <p:nvPr/>
        </p:nvSpPr>
        <p:spPr>
          <a:xfrm>
            <a:off x="4297680" y="2779776"/>
            <a:ext cx="416755" cy="237744"/>
          </a:xfrm>
          <a:prstGeom prst="rect">
            <a:avLst/>
          </a:prstGeom>
          <a:solidFill>
            <a:srgbClr val="768692"/>
          </a:solidFill>
          <a:ln w="12700">
            <a:solidFill>
              <a:srgbClr val="768692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4787587" y="2779776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D3935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M0.0 to M2.1</a:t>
            </a:r>
            <a:endParaRPr lang="en-US" sz="1000" dirty="0"/>
          </a:p>
        </p:txBody>
      </p:sp>
      <p:sp>
        <p:nvSpPr>
          <p:cNvPr id="56" name="Shape 53"/>
          <p:cNvSpPr/>
          <p:nvPr/>
        </p:nvSpPr>
        <p:spPr>
          <a:xfrm>
            <a:off x="731520" y="3127248"/>
            <a:ext cx="10789920" cy="393192"/>
          </a:xfrm>
          <a:prstGeom prst="rect">
            <a:avLst/>
          </a:prstGeom>
          <a:solidFill>
            <a:srgbClr val="F2F8F9"/>
          </a:solidFill>
          <a:ln w="12700">
            <a:solidFill>
              <a:srgbClr val="F2F8F9"/>
            </a:solidFill>
            <a:prstDash val="solid"/>
          </a:ln>
        </p:spPr>
      </p:sp>
      <p:sp>
        <p:nvSpPr>
          <p:cNvPr id="57" name="Text 54"/>
          <p:cNvSpPr txBox="1"/>
          <p:nvPr/>
        </p:nvSpPr>
        <p:spPr>
          <a:xfrm>
            <a:off x="914400" y="3127248"/>
            <a:ext cx="33375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D3935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Riyadh priority stations (NSR + EWR)</a:t>
            </a:r>
            <a:endParaRPr lang="en-US" sz="1200" dirty="0"/>
          </a:p>
          <a:p>
            <a:pPr indent="0" marL="0">
              <a:buNone/>
            </a:pPr>
            <a:r>
              <a:rPr lang="en-US" sz="900" dirty="0">
                <a:solidFill>
                  <a:srgbClr val="768692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2 stations · SAR 6.57M</a:t>
            </a:r>
            <a:endParaRPr lang="en-US" sz="1200" dirty="0"/>
          </a:p>
        </p:txBody>
      </p:sp>
      <p:sp>
        <p:nvSpPr>
          <p:cNvPr id="58" name="Shape 55"/>
          <p:cNvSpPr/>
          <p:nvPr/>
        </p:nvSpPr>
        <p:spPr>
          <a:xfrm>
            <a:off x="4575517" y="3209544"/>
            <a:ext cx="2315308" cy="237744"/>
          </a:xfrm>
          <a:prstGeom prst="rect">
            <a:avLst/>
          </a:prstGeom>
          <a:solidFill>
            <a:srgbClr val="CB2C30"/>
          </a:solidFill>
          <a:ln w="12700">
            <a:solidFill>
              <a:srgbClr val="CB2C30"/>
            </a:solidFill>
            <a:prstDash val="solid"/>
          </a:ln>
        </p:spPr>
      </p:sp>
      <p:sp>
        <p:nvSpPr>
          <p:cNvPr id="59" name="Text 56"/>
          <p:cNvSpPr txBox="1"/>
          <p:nvPr/>
        </p:nvSpPr>
        <p:spPr>
          <a:xfrm>
            <a:off x="4648669" y="3209544"/>
            <a:ext cx="22055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M1.4 to M12.9</a:t>
            </a:r>
            <a:endParaRPr lang="en-US" sz="1000" dirty="0"/>
          </a:p>
        </p:txBody>
      </p:sp>
      <p:sp>
        <p:nvSpPr>
          <p:cNvPr id="60" name="Shape 57"/>
          <p:cNvSpPr/>
          <p:nvPr/>
        </p:nvSpPr>
        <p:spPr>
          <a:xfrm>
            <a:off x="6419791" y="3214116"/>
            <a:ext cx="201168" cy="201168"/>
          </a:xfrm>
          <a:prstGeom prst="diamond">
            <a:avLst/>
          </a:prstGeom>
          <a:solidFill>
            <a:srgbClr val="FFFFFF"/>
          </a:solidFill>
          <a:ln w="19050">
            <a:solidFill>
              <a:srgbClr val="3D3935"/>
            </a:solidFill>
            <a:prstDash val="solid"/>
          </a:ln>
        </p:spPr>
      </p:sp>
      <p:sp>
        <p:nvSpPr>
          <p:cNvPr id="61" name="Text 58"/>
          <p:cNvSpPr txBox="1"/>
          <p:nvPr/>
        </p:nvSpPr>
        <p:spPr>
          <a:xfrm>
            <a:off x="914400" y="3557016"/>
            <a:ext cx="33375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D3935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NSR: North South Railway</a:t>
            </a:r>
            <a:endParaRPr lang="en-US" sz="1200" dirty="0"/>
          </a:p>
          <a:p>
            <a:pPr indent="0" marL="0">
              <a:buNone/>
            </a:pPr>
            <a:r>
              <a:rPr lang="en-US" sz="900" dirty="0">
                <a:solidFill>
                  <a:srgbClr val="768692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5 stations · SAR 17.02M</a:t>
            </a:r>
            <a:endParaRPr lang="en-US" sz="1200" dirty="0"/>
          </a:p>
        </p:txBody>
      </p:sp>
      <p:sp>
        <p:nvSpPr>
          <p:cNvPr id="62" name="Shape 59"/>
          <p:cNvSpPr/>
          <p:nvPr/>
        </p:nvSpPr>
        <p:spPr>
          <a:xfrm>
            <a:off x="6381457" y="3639312"/>
            <a:ext cx="5139983" cy="237744"/>
          </a:xfrm>
          <a:prstGeom prst="rect">
            <a:avLst/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63" name="Text 60"/>
          <p:cNvSpPr txBox="1"/>
          <p:nvPr/>
        </p:nvSpPr>
        <p:spPr>
          <a:xfrm>
            <a:off x="6454609" y="3639312"/>
            <a:ext cx="50302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M10.4 to M36.0</a:t>
            </a:r>
            <a:endParaRPr lang="en-US" sz="1000" dirty="0"/>
          </a:p>
        </p:txBody>
      </p:sp>
      <p:sp>
        <p:nvSpPr>
          <p:cNvPr id="64" name="Text 61"/>
          <p:cNvSpPr txBox="1"/>
          <p:nvPr/>
        </p:nvSpPr>
        <p:spPr>
          <a:xfrm>
            <a:off x="914400" y="3986784"/>
            <a:ext cx="33375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D3935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EWR: East West Railway</a:t>
            </a:r>
            <a:endParaRPr lang="en-US" sz="1200" dirty="0"/>
          </a:p>
          <a:p>
            <a:pPr indent="0" marL="0">
              <a:buNone/>
            </a:pPr>
            <a:r>
              <a:rPr lang="en-US" sz="900" dirty="0">
                <a:solidFill>
                  <a:srgbClr val="768692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3 stations · SAR 8.02M</a:t>
            </a:r>
            <a:endParaRPr lang="en-US" sz="1200" dirty="0"/>
          </a:p>
        </p:txBody>
      </p:sp>
      <p:sp>
        <p:nvSpPr>
          <p:cNvPr id="65" name="Shape 62"/>
          <p:cNvSpPr/>
          <p:nvPr/>
        </p:nvSpPr>
        <p:spPr>
          <a:xfrm>
            <a:off x="5964702" y="4069080"/>
            <a:ext cx="4352778" cy="237744"/>
          </a:xfrm>
          <a:prstGeom prst="rect">
            <a:avLst/>
          </a:prstGeom>
          <a:solidFill>
            <a:srgbClr val="F1B434"/>
          </a:solidFill>
          <a:ln w="12700">
            <a:solidFill>
              <a:srgbClr val="F1B434"/>
            </a:solidFill>
            <a:prstDash val="solid"/>
          </a:ln>
        </p:spPr>
      </p:sp>
      <p:sp>
        <p:nvSpPr>
          <p:cNvPr id="66" name="Text 63"/>
          <p:cNvSpPr txBox="1"/>
          <p:nvPr/>
        </p:nvSpPr>
        <p:spPr>
          <a:xfrm>
            <a:off x="6037854" y="4069080"/>
            <a:ext cx="424305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D3935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M8.3 to M30.0</a:t>
            </a:r>
            <a:endParaRPr lang="en-US" sz="1000" dirty="0"/>
          </a:p>
        </p:txBody>
      </p:sp>
      <p:sp>
        <p:nvSpPr>
          <p:cNvPr id="67" name="Text 64"/>
          <p:cNvSpPr txBox="1"/>
          <p:nvPr/>
        </p:nvSpPr>
        <p:spPr>
          <a:xfrm>
            <a:off x="914400" y="4416552"/>
            <a:ext cx="33375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D3935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HHR: Haramain High Speed Rail</a:t>
            </a:r>
            <a:endParaRPr lang="en-US" sz="1200" dirty="0"/>
          </a:p>
          <a:p>
            <a:pPr indent="0" marL="0">
              <a:buNone/>
            </a:pPr>
            <a:r>
              <a:rPr lang="en-US" sz="900" dirty="0">
                <a:solidFill>
                  <a:srgbClr val="768692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4 stations · SAR 30.39M</a:t>
            </a:r>
            <a:endParaRPr lang="en-US" sz="1200" dirty="0"/>
          </a:p>
        </p:txBody>
      </p:sp>
      <p:sp>
        <p:nvSpPr>
          <p:cNvPr id="68" name="Shape 65"/>
          <p:cNvSpPr/>
          <p:nvPr/>
        </p:nvSpPr>
        <p:spPr>
          <a:xfrm>
            <a:off x="5223803" y="4498848"/>
            <a:ext cx="5834575" cy="237744"/>
          </a:xfrm>
          <a:prstGeom prst="rect">
            <a:avLst/>
          </a:prstGeom>
          <a:solidFill>
            <a:srgbClr val="3D3935"/>
          </a:solidFill>
          <a:ln w="12700">
            <a:solidFill>
              <a:srgbClr val="3D3935"/>
            </a:solidFill>
            <a:prstDash val="solid"/>
          </a:ln>
        </p:spPr>
      </p:sp>
      <p:sp>
        <p:nvSpPr>
          <p:cNvPr id="69" name="Text 66"/>
          <p:cNvSpPr txBox="1"/>
          <p:nvPr/>
        </p:nvSpPr>
        <p:spPr>
          <a:xfrm>
            <a:off x="5296955" y="4498848"/>
            <a:ext cx="572484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M4.6 to M33.7</a:t>
            </a:r>
            <a:endParaRPr lang="en-US" sz="1000" dirty="0"/>
          </a:p>
        </p:txBody>
      </p:sp>
      <p:sp>
        <p:nvSpPr>
          <p:cNvPr id="70" name="Text 67"/>
          <p:cNvSpPr txBox="1"/>
          <p:nvPr/>
        </p:nvSpPr>
        <p:spPr>
          <a:xfrm>
            <a:off x="914400" y="4846320"/>
            <a:ext cx="33375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D3935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Closeout, warranty and support</a:t>
            </a:r>
            <a:endParaRPr lang="en-US" sz="1200" dirty="0"/>
          </a:p>
          <a:p>
            <a:pPr indent="0" marL="0">
              <a:buNone/>
            </a:pPr>
            <a:r>
              <a:rPr lang="en-US" sz="900" dirty="0">
                <a:solidFill>
                  <a:srgbClr val="768692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Rolling per station; 1-year defects liability</a:t>
            </a:r>
            <a:endParaRPr lang="en-US" sz="1200" dirty="0"/>
          </a:p>
        </p:txBody>
      </p:sp>
      <p:sp>
        <p:nvSpPr>
          <p:cNvPr id="71" name="Shape 68"/>
          <p:cNvSpPr/>
          <p:nvPr/>
        </p:nvSpPr>
        <p:spPr>
          <a:xfrm>
            <a:off x="6705600" y="4928616"/>
            <a:ext cx="4815840" cy="237744"/>
          </a:xfrm>
          <a:prstGeom prst="rect">
            <a:avLst/>
          </a:prstGeom>
          <a:solidFill>
            <a:srgbClr val="768692"/>
          </a:solidFill>
          <a:ln w="12700">
            <a:solidFill>
              <a:srgbClr val="768692"/>
            </a:solidFill>
            <a:prstDash val="solid"/>
          </a:ln>
        </p:spPr>
      </p:sp>
      <p:sp>
        <p:nvSpPr>
          <p:cNvPr id="72" name="Text 69"/>
          <p:cNvSpPr txBox="1"/>
          <p:nvPr/>
        </p:nvSpPr>
        <p:spPr>
          <a:xfrm>
            <a:off x="6778752" y="4928616"/>
            <a:ext cx="47061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M12.0 to M36.0</a:t>
            </a:r>
            <a:endParaRPr lang="en-US" sz="1000" dirty="0"/>
          </a:p>
        </p:txBody>
      </p:sp>
      <p:sp>
        <p:nvSpPr>
          <p:cNvPr id="73" name="Shape 70"/>
          <p:cNvSpPr/>
          <p:nvPr/>
        </p:nvSpPr>
        <p:spPr>
          <a:xfrm>
            <a:off x="11521440" y="2221992"/>
            <a:ext cx="0" cy="3054096"/>
          </a:xfrm>
          <a:prstGeom prst="line">
            <a:avLst/>
          </a:prstGeom>
          <a:noFill/>
          <a:ln w="22225">
            <a:solidFill>
              <a:srgbClr val="CB2C30"/>
            </a:solidFill>
            <a:prstDash val="solid"/>
          </a:ln>
        </p:spPr>
      </p:sp>
      <p:sp>
        <p:nvSpPr>
          <p:cNvPr id="74" name="Text 71"/>
          <p:cNvSpPr txBox="1"/>
          <p:nvPr/>
        </p:nvSpPr>
        <p:spPr>
          <a:xfrm>
            <a:off x="10424160" y="5294376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CB2C30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Term ends M36</a:t>
            </a:r>
            <a:endParaRPr lang="en-US" sz="900" dirty="0"/>
          </a:p>
        </p:txBody>
      </p:sp>
      <p:sp>
        <p:nvSpPr>
          <p:cNvPr id="75" name="Shape 72"/>
          <p:cNvSpPr/>
          <p:nvPr/>
        </p:nvSpPr>
        <p:spPr>
          <a:xfrm>
            <a:off x="777240" y="5577840"/>
            <a:ext cx="2061058" cy="475488"/>
          </a:xfrm>
          <a:prstGeom prst="rect">
            <a:avLst/>
          </a:prstGeom>
          <a:solidFill>
            <a:srgbClr val="F2F8F9"/>
          </a:solidFill>
          <a:ln w="9525">
            <a:solidFill>
              <a:srgbClr val="E6F1F4"/>
            </a:solidFill>
            <a:prstDash val="solid"/>
          </a:ln>
        </p:spPr>
      </p:sp>
      <p:sp>
        <p:nvSpPr>
          <p:cNvPr id="76" name="Text 73"/>
          <p:cNvSpPr txBox="1"/>
          <p:nvPr/>
        </p:nvSpPr>
        <p:spPr>
          <a:xfrm>
            <a:off x="886968" y="5577840"/>
            <a:ext cx="187817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B2C30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M1.4</a:t>
            </a:r>
            <a:endParaRPr lang="en-US" sz="1400" dirty="0"/>
          </a:p>
          <a:p>
            <a:pPr indent="0" marL="0">
              <a:buNone/>
            </a:pPr>
            <a:r>
              <a:rPr lang="en-US" sz="1000" dirty="0">
                <a:solidFill>
                  <a:srgbClr val="3D3935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Riyadh start</a:t>
            </a:r>
            <a:endParaRPr lang="en-US" sz="1400" dirty="0"/>
          </a:p>
        </p:txBody>
      </p:sp>
      <p:sp>
        <p:nvSpPr>
          <p:cNvPr id="77" name="Shape 74"/>
          <p:cNvSpPr/>
          <p:nvPr/>
        </p:nvSpPr>
        <p:spPr>
          <a:xfrm>
            <a:off x="2948026" y="5577840"/>
            <a:ext cx="2061058" cy="475488"/>
          </a:xfrm>
          <a:prstGeom prst="rect">
            <a:avLst/>
          </a:prstGeom>
          <a:solidFill>
            <a:srgbClr val="F2F8F9"/>
          </a:solidFill>
          <a:ln w="9525">
            <a:solidFill>
              <a:srgbClr val="E6F1F4"/>
            </a:solidFill>
            <a:prstDash val="solid"/>
          </a:ln>
        </p:spPr>
      </p:sp>
      <p:sp>
        <p:nvSpPr>
          <p:cNvPr id="78" name="Text 75"/>
          <p:cNvSpPr txBox="1"/>
          <p:nvPr/>
        </p:nvSpPr>
        <p:spPr>
          <a:xfrm>
            <a:off x="3057754" y="5577840"/>
            <a:ext cx="187817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B2C30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M4.4</a:t>
            </a:r>
            <a:endParaRPr lang="en-US" sz="1400" dirty="0"/>
          </a:p>
          <a:p>
            <a:pPr indent="0" marL="0">
              <a:buNone/>
            </a:pPr>
            <a:r>
              <a:rPr lang="en-US" sz="1000" dirty="0">
                <a:solidFill>
                  <a:srgbClr val="3D3935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Riyadh design approved</a:t>
            </a:r>
            <a:endParaRPr lang="en-US" sz="1400" dirty="0"/>
          </a:p>
        </p:txBody>
      </p:sp>
      <p:sp>
        <p:nvSpPr>
          <p:cNvPr id="79" name="Shape 76"/>
          <p:cNvSpPr/>
          <p:nvPr/>
        </p:nvSpPr>
        <p:spPr>
          <a:xfrm>
            <a:off x="5118811" y="5577840"/>
            <a:ext cx="2061058" cy="475488"/>
          </a:xfrm>
          <a:prstGeom prst="rect">
            <a:avLst/>
          </a:prstGeom>
          <a:solidFill>
            <a:srgbClr val="F2F8F9"/>
          </a:solidFill>
          <a:ln w="9525">
            <a:solidFill>
              <a:srgbClr val="E6F1F4"/>
            </a:solidFill>
            <a:prstDash val="solid"/>
          </a:ln>
        </p:spPr>
      </p:sp>
      <p:sp>
        <p:nvSpPr>
          <p:cNvPr id="80" name="Text 77"/>
          <p:cNvSpPr txBox="1"/>
          <p:nvPr/>
        </p:nvSpPr>
        <p:spPr>
          <a:xfrm>
            <a:off x="5228539" y="5577840"/>
            <a:ext cx="187817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B2C30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M11.1</a:t>
            </a:r>
            <a:endParaRPr lang="en-US" sz="1400" dirty="0"/>
          </a:p>
          <a:p>
            <a:pPr indent="0" marL="0">
              <a:buNone/>
            </a:pPr>
            <a:r>
              <a:rPr lang="en-US" sz="1000" dirty="0">
                <a:solidFill>
                  <a:srgbClr val="3D3935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Riyadh SAT done</a:t>
            </a:r>
            <a:endParaRPr lang="en-US" sz="1400" dirty="0"/>
          </a:p>
        </p:txBody>
      </p:sp>
      <p:sp>
        <p:nvSpPr>
          <p:cNvPr id="81" name="Shape 78"/>
          <p:cNvSpPr/>
          <p:nvPr/>
        </p:nvSpPr>
        <p:spPr>
          <a:xfrm>
            <a:off x="7289597" y="5577840"/>
            <a:ext cx="2061058" cy="475488"/>
          </a:xfrm>
          <a:prstGeom prst="rect">
            <a:avLst/>
          </a:prstGeom>
          <a:solidFill>
            <a:srgbClr val="F2F8F9"/>
          </a:solidFill>
          <a:ln w="9525">
            <a:solidFill>
              <a:srgbClr val="E6F1F4"/>
            </a:solidFill>
            <a:prstDash val="solid"/>
          </a:ln>
        </p:spPr>
      </p:sp>
      <p:sp>
        <p:nvSpPr>
          <p:cNvPr id="82" name="Text 79"/>
          <p:cNvSpPr txBox="1"/>
          <p:nvPr/>
        </p:nvSpPr>
        <p:spPr>
          <a:xfrm>
            <a:off x="7399325" y="5577840"/>
            <a:ext cx="187817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B2C30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M12.9</a:t>
            </a:r>
            <a:endParaRPr lang="en-US" sz="1400" dirty="0"/>
          </a:p>
          <a:p>
            <a:pPr indent="0" marL="0">
              <a:buNone/>
            </a:pPr>
            <a:r>
              <a:rPr lang="en-US" sz="1000" dirty="0">
                <a:solidFill>
                  <a:srgbClr val="3D3935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Riyadh accepted</a:t>
            </a:r>
            <a:endParaRPr lang="en-US" sz="1400" dirty="0"/>
          </a:p>
        </p:txBody>
      </p:sp>
      <p:sp>
        <p:nvSpPr>
          <p:cNvPr id="83" name="Shape 80"/>
          <p:cNvSpPr/>
          <p:nvPr/>
        </p:nvSpPr>
        <p:spPr>
          <a:xfrm>
            <a:off x="9460382" y="5577840"/>
            <a:ext cx="2061058" cy="475488"/>
          </a:xfrm>
          <a:prstGeom prst="rect">
            <a:avLst/>
          </a:prstGeom>
          <a:solidFill>
            <a:srgbClr val="E6F1F4"/>
          </a:solidFill>
          <a:ln w="9525">
            <a:solidFill>
              <a:srgbClr val="E6F1F4"/>
            </a:solidFill>
            <a:prstDash val="solid"/>
          </a:ln>
        </p:spPr>
      </p:sp>
      <p:sp>
        <p:nvSpPr>
          <p:cNvPr id="84" name="Text 81"/>
          <p:cNvSpPr txBox="1"/>
          <p:nvPr/>
        </p:nvSpPr>
        <p:spPr>
          <a:xfrm>
            <a:off x="9570110" y="5577840"/>
            <a:ext cx="187817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778B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M36</a:t>
            </a:r>
            <a:endParaRPr lang="en-US" sz="1400" dirty="0"/>
          </a:p>
          <a:p>
            <a:pPr indent="0" marL="0">
              <a:buNone/>
            </a:pPr>
            <a:r>
              <a:rPr lang="en-US" sz="1000" dirty="0">
                <a:solidFill>
                  <a:srgbClr val="3D3935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Last station accepted</a:t>
            </a:r>
            <a:endParaRPr lang="en-US" sz="1400" dirty="0"/>
          </a:p>
        </p:txBody>
      </p:sp>
      <p:sp>
        <p:nvSpPr>
          <p:cNvPr id="85" name="Shape 82"/>
          <p:cNvSpPr/>
          <p:nvPr/>
        </p:nvSpPr>
        <p:spPr>
          <a:xfrm>
            <a:off x="4297680" y="6199632"/>
            <a:ext cx="146304" cy="146304"/>
          </a:xfrm>
          <a:prstGeom prst="diamond">
            <a:avLst/>
          </a:prstGeom>
          <a:solidFill>
            <a:srgbClr val="FFFFFF"/>
          </a:solidFill>
          <a:ln w="15875">
            <a:solidFill>
              <a:srgbClr val="3D3935"/>
            </a:solidFill>
            <a:prstDash val="solid"/>
          </a:ln>
        </p:spPr>
      </p:sp>
      <p:sp>
        <p:nvSpPr>
          <p:cNvPr id="86" name="Text 83"/>
          <p:cNvSpPr txBox="1"/>
          <p:nvPr/>
        </p:nvSpPr>
        <p:spPr>
          <a:xfrm>
            <a:off x="4507992" y="6181344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D3935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Riyadh SAT</a:t>
            </a:r>
            <a:endParaRPr lang="en-US" sz="900" dirty="0"/>
          </a:p>
        </p:txBody>
      </p:sp>
      <p:sp>
        <p:nvSpPr>
          <p:cNvPr id="87" name="Shape 84"/>
          <p:cNvSpPr/>
          <p:nvPr/>
        </p:nvSpPr>
        <p:spPr>
          <a:xfrm>
            <a:off x="5486400" y="6217920"/>
            <a:ext cx="128016" cy="109728"/>
          </a:xfrm>
          <a:prstGeom prst="rect">
            <a:avLst/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88" name="Text 85"/>
          <p:cNvSpPr txBox="1"/>
          <p:nvPr/>
        </p:nvSpPr>
        <p:spPr>
          <a:xfrm>
            <a:off x="5669280" y="6181344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D3935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NSR</a:t>
            </a:r>
            <a:endParaRPr lang="en-US" sz="900" dirty="0"/>
          </a:p>
        </p:txBody>
      </p:sp>
      <p:sp>
        <p:nvSpPr>
          <p:cNvPr id="89" name="Shape 86"/>
          <p:cNvSpPr/>
          <p:nvPr/>
        </p:nvSpPr>
        <p:spPr>
          <a:xfrm>
            <a:off x="6149340" y="6217920"/>
            <a:ext cx="128016" cy="109728"/>
          </a:xfrm>
          <a:prstGeom prst="rect">
            <a:avLst/>
          </a:prstGeom>
          <a:solidFill>
            <a:srgbClr val="F1B434"/>
          </a:solidFill>
          <a:ln w="12700">
            <a:solidFill>
              <a:srgbClr val="F1B434"/>
            </a:solidFill>
            <a:prstDash val="solid"/>
          </a:ln>
        </p:spPr>
      </p:sp>
      <p:sp>
        <p:nvSpPr>
          <p:cNvPr id="90" name="Text 87"/>
          <p:cNvSpPr txBox="1"/>
          <p:nvPr/>
        </p:nvSpPr>
        <p:spPr>
          <a:xfrm>
            <a:off x="6332220" y="6181344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D3935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EWR</a:t>
            </a:r>
            <a:endParaRPr lang="en-US" sz="900" dirty="0"/>
          </a:p>
        </p:txBody>
      </p:sp>
      <p:sp>
        <p:nvSpPr>
          <p:cNvPr id="91" name="Shape 88"/>
          <p:cNvSpPr/>
          <p:nvPr/>
        </p:nvSpPr>
        <p:spPr>
          <a:xfrm>
            <a:off x="6812280" y="6217920"/>
            <a:ext cx="128016" cy="109728"/>
          </a:xfrm>
          <a:prstGeom prst="rect">
            <a:avLst/>
          </a:prstGeom>
          <a:solidFill>
            <a:srgbClr val="3D3935"/>
          </a:solidFill>
          <a:ln w="12700">
            <a:solidFill>
              <a:srgbClr val="3D3935"/>
            </a:solidFill>
            <a:prstDash val="solid"/>
          </a:ln>
        </p:spPr>
      </p:sp>
      <p:sp>
        <p:nvSpPr>
          <p:cNvPr id="92" name="Text 89"/>
          <p:cNvSpPr txBox="1"/>
          <p:nvPr/>
        </p:nvSpPr>
        <p:spPr>
          <a:xfrm>
            <a:off x="6995160" y="6181344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D3935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HHR</a:t>
            </a:r>
            <a:endParaRPr lang="en-US" sz="900" dirty="0"/>
          </a:p>
        </p:txBody>
      </p:sp>
      <p:sp>
        <p:nvSpPr>
          <p:cNvPr id="93" name="Shape 90"/>
          <p:cNvSpPr/>
          <p:nvPr/>
        </p:nvSpPr>
        <p:spPr>
          <a:xfrm>
            <a:off x="7475220" y="6217920"/>
            <a:ext cx="128016" cy="109728"/>
          </a:xfrm>
          <a:prstGeom prst="rect">
            <a:avLst/>
          </a:prstGeom>
          <a:solidFill>
            <a:srgbClr val="CB2C30"/>
          </a:solidFill>
          <a:ln w="12700">
            <a:solidFill>
              <a:srgbClr val="CB2C30"/>
            </a:solidFill>
            <a:prstDash val="solid"/>
          </a:ln>
        </p:spPr>
      </p:sp>
      <p:sp>
        <p:nvSpPr>
          <p:cNvPr id="94" name="Text 91"/>
          <p:cNvSpPr txBox="1"/>
          <p:nvPr/>
        </p:nvSpPr>
        <p:spPr>
          <a:xfrm>
            <a:off x="7658100" y="6181344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D3935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Riyadh priority</a:t>
            </a:r>
            <a:endParaRPr lang="en-US" sz="900" dirty="0"/>
          </a:p>
        </p:txBody>
      </p:sp>
      <p:sp>
        <p:nvSpPr>
          <p:cNvPr id="95" name="Shape 92"/>
          <p:cNvSpPr/>
          <p:nvPr/>
        </p:nvSpPr>
        <p:spPr>
          <a:xfrm>
            <a:off x="8961120" y="6217920"/>
            <a:ext cx="128016" cy="109728"/>
          </a:xfrm>
          <a:prstGeom prst="rect">
            <a:avLst/>
          </a:prstGeom>
          <a:solidFill>
            <a:srgbClr val="768692"/>
          </a:solidFill>
          <a:ln w="12700">
            <a:solidFill>
              <a:srgbClr val="768692"/>
            </a:solidFill>
            <a:prstDash val="solid"/>
          </a:ln>
        </p:spPr>
      </p:sp>
      <p:sp>
        <p:nvSpPr>
          <p:cNvPr id="96" name="Text 93"/>
          <p:cNvSpPr txBox="1"/>
          <p:nvPr/>
        </p:nvSpPr>
        <p:spPr>
          <a:xfrm>
            <a:off x="9144000" y="6181344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D3935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Mobilization / closeout</a:t>
            </a:r>
            <a:endParaRPr lang="en-US" sz="900" dirty="0"/>
          </a:p>
        </p:txBody>
      </p:sp>
      <p:sp>
        <p:nvSpPr>
          <p:cNvPr id="97" name="Text 94"/>
          <p:cNvSpPr txBox="1"/>
          <p:nvPr/>
        </p:nvSpPr>
        <p:spPr>
          <a:xfrm>
            <a:off x="777240" y="6181344"/>
            <a:ext cx="3383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68692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Baseline assumed: not yet approved by SAR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64592"/>
            <a:ext cx="675742" cy="42062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852160" y="274320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68692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Passengers' Security Checking  |  Cash flow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1338560" y="5303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68692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6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411480" y="6382512"/>
            <a:ext cx="11365992" cy="0"/>
          </a:xfrm>
          <a:prstGeom prst="line">
            <a:avLst/>
          </a:prstGeom>
          <a:noFill/>
          <a:ln w="12700">
            <a:solidFill>
              <a:srgbClr val="00778B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1521440" y="6272784"/>
            <a:ext cx="219456" cy="21945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411480" y="841248"/>
            <a:ext cx="182880" cy="475488"/>
          </a:xfrm>
          <a:prstGeom prst="parallelogram">
            <a:avLst/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77240" y="804672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778B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Cash flow: SAR 62.0M invoiced on seven contract milestones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126187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68692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Amount to be invoiced in each month from Notice to Proceed (assumed 1 Nov 2026), SAR million excluding VAT</a:t>
            </a:r>
            <a:endParaRPr lang="en-US" sz="1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664208"/>
          <a:ext cx="10744200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761970"/>
                <a:gridCol w="761970"/>
                <a:gridCol w="761970"/>
                <a:gridCol w="761970"/>
                <a:gridCol w="761970"/>
                <a:gridCol w="761970"/>
                <a:gridCol w="761970"/>
                <a:gridCol w="761970"/>
                <a:gridCol w="761970"/>
                <a:gridCol w="761970"/>
                <a:gridCol w="761970"/>
                <a:gridCol w="76197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Month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78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M1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Nov 26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78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M2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Dec 26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78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M3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Jan 27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78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M4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Feb 27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78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M5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Mar 27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78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M6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Apr 27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78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M7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May 27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78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M8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Jun 27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78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M9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Jul 27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78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M10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Aug 27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78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M11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Sept 27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78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M12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Oct 27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78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Invoiced in month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1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-</a:t>
                      </a:r>
                      <a:endParaRPr lang="en-US" sz="11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1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B2C30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12.40</a:t>
                      </a:r>
                      <a:endParaRPr lang="en-US" sz="11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1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-</a:t>
                      </a:r>
                      <a:endParaRPr lang="en-US" sz="11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1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0.66</a:t>
                      </a:r>
                      <a:endParaRPr lang="en-US" sz="11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1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0.66</a:t>
                      </a:r>
                      <a:endParaRPr lang="en-US" sz="11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1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-</a:t>
                      </a:r>
                      <a:endParaRPr lang="en-US" sz="11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1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-</a:t>
                      </a:r>
                      <a:endParaRPr lang="en-US" sz="11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1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0.96</a:t>
                      </a:r>
                      <a:endParaRPr lang="en-US" sz="11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1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1.65</a:t>
                      </a:r>
                      <a:endParaRPr lang="en-US" sz="11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1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0.62</a:t>
                      </a:r>
                      <a:endParaRPr lang="en-US" sz="11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1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2.30</a:t>
                      </a:r>
                      <a:endParaRPr lang="en-US" sz="11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1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0.31</a:t>
                      </a:r>
                      <a:endParaRPr lang="en-US" sz="11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1F4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Cumulative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0.0</a:t>
                      </a:r>
                      <a:endParaRPr lang="en-US" sz="11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12.4</a:t>
                      </a:r>
                      <a:endParaRPr lang="en-US" sz="11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12.4</a:t>
                      </a:r>
                      <a:endParaRPr lang="en-US" sz="11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13.1</a:t>
                      </a:r>
                      <a:endParaRPr lang="en-US" sz="11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13.7</a:t>
                      </a:r>
                      <a:endParaRPr lang="en-US" sz="11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13.7</a:t>
                      </a:r>
                      <a:endParaRPr lang="en-US" sz="11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13.7</a:t>
                      </a:r>
                      <a:endParaRPr lang="en-US" sz="11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14.7</a:t>
                      </a:r>
                      <a:endParaRPr lang="en-US" sz="11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16.3</a:t>
                      </a:r>
                      <a:endParaRPr lang="en-US" sz="11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16.9</a:t>
                      </a:r>
                      <a:endParaRPr lang="en-US" sz="11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19.2</a:t>
                      </a:r>
                      <a:endParaRPr lang="en-US" sz="11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19.5</a:t>
                      </a:r>
                      <a:endParaRPr lang="en-US" sz="11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Month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78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M13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Nov 27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78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M14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Dec 27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78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M15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Jan 28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78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M16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Feb 28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78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M17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Mar 28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78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M18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Apr 28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78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M19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May 28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78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M20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Jun 28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78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M21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Jul 28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78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M22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Aug 28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78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M23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Sept 28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78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M24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Oct 28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78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Invoiced in month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1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0.97</a:t>
                      </a:r>
                      <a:endParaRPr lang="en-US" sz="11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1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0.93</a:t>
                      </a:r>
                      <a:endParaRPr lang="en-US" sz="11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1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0.68</a:t>
                      </a:r>
                      <a:endParaRPr lang="en-US" sz="11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1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2.88</a:t>
                      </a:r>
                      <a:endParaRPr lang="en-US" sz="11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1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1.61</a:t>
                      </a:r>
                      <a:endParaRPr lang="en-US" sz="11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1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0.64</a:t>
                      </a:r>
                      <a:endParaRPr lang="en-US" sz="11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1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1.56</a:t>
                      </a:r>
                      <a:endParaRPr lang="en-US" sz="11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1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4.15</a:t>
                      </a:r>
                      <a:endParaRPr lang="en-US" sz="11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1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4.00</a:t>
                      </a:r>
                      <a:endParaRPr lang="en-US" sz="11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1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1.22</a:t>
                      </a:r>
                      <a:endParaRPr lang="en-US" sz="11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1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4.20</a:t>
                      </a:r>
                      <a:endParaRPr lang="en-US" sz="11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1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-</a:t>
                      </a:r>
                      <a:endParaRPr lang="en-US" sz="11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1F4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Cumulative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20.5</a:t>
                      </a:r>
                      <a:endParaRPr lang="en-US" sz="11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21.5</a:t>
                      </a:r>
                      <a:endParaRPr lang="en-US" sz="11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22.1</a:t>
                      </a:r>
                      <a:endParaRPr lang="en-US" sz="11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25.0</a:t>
                      </a:r>
                      <a:endParaRPr lang="en-US" sz="11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26.6</a:t>
                      </a:r>
                      <a:endParaRPr lang="en-US" sz="11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27.3</a:t>
                      </a:r>
                      <a:endParaRPr lang="en-US" sz="11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28.8</a:t>
                      </a:r>
                      <a:endParaRPr lang="en-US" sz="11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33.0</a:t>
                      </a:r>
                      <a:endParaRPr lang="en-US" sz="11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37.0</a:t>
                      </a:r>
                      <a:endParaRPr lang="en-US" sz="11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38.2</a:t>
                      </a:r>
                      <a:endParaRPr lang="en-US" sz="11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42.4</a:t>
                      </a:r>
                      <a:endParaRPr lang="en-US" sz="11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42.4</a:t>
                      </a:r>
                      <a:endParaRPr lang="en-US" sz="11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Month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78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M25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Nov 28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78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M26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Dec 28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78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M27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Jan 29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78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M28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Feb 29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78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M29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Mar 29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78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M30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Apr 29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78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M31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May 29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78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M32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Jun 29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78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M33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Jul 29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78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M34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Aug 29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78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M35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Sept 29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78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M36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Oct 29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78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Invoiced in month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1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0.68</a:t>
                      </a:r>
                      <a:endParaRPr lang="en-US" sz="11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1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0.34</a:t>
                      </a:r>
                      <a:endParaRPr lang="en-US" sz="11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1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1.08</a:t>
                      </a:r>
                      <a:endParaRPr lang="en-US" sz="11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1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5.25</a:t>
                      </a:r>
                      <a:endParaRPr lang="en-US" sz="11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1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1.85</a:t>
                      </a:r>
                      <a:endParaRPr lang="en-US" sz="11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1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0.34</a:t>
                      </a:r>
                      <a:endParaRPr lang="en-US" sz="11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1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4.08</a:t>
                      </a:r>
                      <a:endParaRPr lang="en-US" sz="11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1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2.82</a:t>
                      </a:r>
                      <a:endParaRPr lang="en-US" sz="11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1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0.34</a:t>
                      </a:r>
                      <a:endParaRPr lang="en-US" sz="11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1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1.79</a:t>
                      </a:r>
                      <a:endParaRPr lang="en-US" sz="11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1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0.68</a:t>
                      </a:r>
                      <a:endParaRPr lang="en-US" sz="11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1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0.34</a:t>
                      </a:r>
                      <a:endParaRPr lang="en-US" sz="11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1F4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Cumulative</a:t>
                      </a:r>
                      <a:endParaRPr lang="en-US" sz="10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43.1</a:t>
                      </a:r>
                      <a:endParaRPr lang="en-US" sz="11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43.4</a:t>
                      </a:r>
                      <a:endParaRPr lang="en-US" sz="11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44.5</a:t>
                      </a:r>
                      <a:endParaRPr lang="en-US" sz="11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49.8</a:t>
                      </a:r>
                      <a:endParaRPr lang="en-US" sz="11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51.6</a:t>
                      </a:r>
                      <a:endParaRPr lang="en-US" sz="11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51.9</a:t>
                      </a:r>
                      <a:endParaRPr lang="en-US" sz="11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56.0</a:t>
                      </a:r>
                      <a:endParaRPr lang="en-US" sz="11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58.8</a:t>
                      </a:r>
                      <a:endParaRPr lang="en-US" sz="11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59.2</a:t>
                      </a:r>
                      <a:endParaRPr lang="en-US" sz="11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61.0</a:t>
                      </a:r>
                      <a:endParaRPr lang="en-US" sz="11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61.7</a:t>
                      </a:r>
                      <a:endParaRPr lang="en-US" sz="11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778B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62.0</a:t>
                      </a:r>
                      <a:endParaRPr lang="en-US" sz="11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36576" marR="36576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9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Chart 0" descr=""/>
          <p:cNvGraphicFramePr/>
          <p:nvPr/>
        </p:nvGraphicFramePr>
        <p:xfrm>
          <a:off x="777240" y="4553712"/>
          <a:ext cx="5669280" cy="1783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75120" y="4590288"/>
          <a:ext cx="4846320" cy="914400"/>
        </p:xfrm>
        <a:graphic>
          <a:graphicData uri="http://schemas.openxmlformats.org/drawingml/2006/table">
            <a:tbl>
              <a:tblPr/>
              <a:tblGrid>
                <a:gridCol w="2331720"/>
                <a:gridCol w="594360"/>
                <a:gridCol w="685800"/>
                <a:gridCol w="1234440"/>
              </a:tblGrid>
              <a:tr h="1874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Contract milestone</a:t>
                      </a:r>
                      <a:endParaRPr lang="en-US" sz="9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78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Share</a:t>
                      </a:r>
                      <a:endParaRPr lang="en-US" sz="9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78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SAR M</a:t>
                      </a:r>
                      <a:endParaRPr lang="en-US" sz="9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78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Months</a:t>
                      </a:r>
                      <a:endParaRPr lang="en-US" sz="9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78B"/>
                    </a:solidFill>
                  </a:tcPr>
                </a:tc>
              </a:tr>
              <a:tr h="1874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Mobilization</a:t>
                      </a:r>
                      <a:endParaRPr lang="en-US" sz="9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20%</a:t>
                      </a:r>
                      <a:endParaRPr lang="en-US" sz="9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12.4</a:t>
                      </a:r>
                      <a:endParaRPr lang="en-US" sz="9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1.4</a:t>
                      </a:r>
                      <a:endParaRPr lang="en-US" sz="9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9"/>
                    </a:solidFill>
                  </a:tcPr>
                </a:tc>
              </a:tr>
              <a:tr h="1874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Engineering submittal</a:t>
                      </a:r>
                      <a:endParaRPr lang="en-US" sz="9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10%</a:t>
                      </a:r>
                      <a:endParaRPr lang="en-US" sz="9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6.2</a:t>
                      </a:r>
                      <a:endParaRPr lang="en-US" sz="9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3.2 to 26.1</a:t>
                      </a:r>
                      <a:endParaRPr lang="en-US" sz="9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SAR approval</a:t>
                      </a:r>
                      <a:endParaRPr lang="en-US" sz="9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10%</a:t>
                      </a:r>
                      <a:endParaRPr lang="en-US" sz="9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6.2</a:t>
                      </a:r>
                      <a:endParaRPr lang="en-US" sz="9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3.9 to 26.8</a:t>
                      </a:r>
                      <a:endParaRPr lang="en-US" sz="9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9"/>
                    </a:solidFill>
                  </a:tcPr>
                </a:tc>
              </a:tr>
              <a:tr h="1874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Material delivery</a:t>
                      </a:r>
                      <a:endParaRPr lang="en-US" sz="9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20%</a:t>
                      </a:r>
                      <a:endParaRPr lang="en-US" sz="9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12.4</a:t>
                      </a:r>
                      <a:endParaRPr lang="en-US" sz="9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8.5 to 31.8</a:t>
                      </a:r>
                      <a:endParaRPr lang="en-US" sz="9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Installation</a:t>
                      </a:r>
                      <a:endParaRPr lang="en-US" sz="9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20%</a:t>
                      </a:r>
                      <a:endParaRPr lang="en-US" sz="9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12.4</a:t>
                      </a:r>
                      <a:endParaRPr lang="en-US" sz="9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10.2 to 33.5</a:t>
                      </a:r>
                      <a:endParaRPr lang="en-US" sz="9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9"/>
                    </a:solidFill>
                  </a:tcPr>
                </a:tc>
              </a:tr>
              <a:tr h="1874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Testing &amp; commissioning (SAT)</a:t>
                      </a:r>
                      <a:endParaRPr lang="en-US" sz="9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10%</a:t>
                      </a:r>
                      <a:endParaRPr lang="en-US" sz="9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6.2</a:t>
                      </a:r>
                      <a:endParaRPr lang="en-US" sz="9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10.8 to 34.2</a:t>
                      </a:r>
                      <a:endParaRPr lang="en-US" sz="9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Final acceptance</a:t>
                      </a:r>
                      <a:endParaRPr lang="en-US" sz="9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10%</a:t>
                      </a:r>
                      <a:endParaRPr lang="en-US" sz="9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6.2</a:t>
                      </a:r>
                      <a:endParaRPr lang="en-US" sz="9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935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12.7 to 35.8</a:t>
                      </a:r>
                      <a:endParaRPr lang="en-US" sz="9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9"/>
                    </a:solidFill>
                  </a:tcPr>
                </a:tc>
              </a:tr>
              <a:tr h="1874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778B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Total</a:t>
                      </a:r>
                      <a:endParaRPr lang="en-US" sz="9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45720" marR="45720" marT="0" marB="0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0778B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100%</a:t>
                      </a:r>
                      <a:endParaRPr lang="en-US" sz="9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45720" marR="45720" marT="0" marB="0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0778B"/>
                          </a:solidFill>
                          <a:latin typeface="Diodrum Arabic" pitchFamily="34" charset="0"/>
                          <a:ea typeface="Diodrum Arabic" pitchFamily="34" charset="-122"/>
                          <a:cs typeface="Diodrum Arabic" pitchFamily="34" charset="-120"/>
                        </a:rPr>
                        <a:t>62.0</a:t>
                      </a:r>
                      <a:endParaRPr lang="en-US" sz="9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45720" marR="45720" marT="0" marB="0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1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Diodrum Arabic" charset="0"/>
                        <a:ea typeface="Diodrum Arabic" charset="0"/>
                        <a:cs typeface="Diodrum Arabic" charset="0"/>
                      </a:endParaRPr>
                    </a:p>
                  </a:txBody>
                  <a:tcPr marL="45720" marR="45720" marT="0" marB="0">
                    <a:lnL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9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1F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778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534156" y="3246120"/>
            <a:ext cx="914400" cy="3611880"/>
          </a:xfrm>
          <a:prstGeom prst="parallelogram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flipH="1">
            <a:off x="7740396" y="3246120"/>
            <a:ext cx="914400" cy="3611880"/>
          </a:xfrm>
          <a:prstGeom prst="parallelogram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90311" y="4160520"/>
            <a:ext cx="808330" cy="5029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0" y="1965960"/>
            <a:ext cx="121889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Thank You</a:t>
            </a:r>
            <a:endParaRPr lang="en-US" sz="3600" dirty="0"/>
          </a:p>
        </p:txBody>
      </p:sp>
      <p:sp>
        <p:nvSpPr>
          <p:cNvPr id="6" name="Text 3"/>
          <p:cNvSpPr/>
          <p:nvPr/>
        </p:nvSpPr>
        <p:spPr>
          <a:xfrm>
            <a:off x="0" y="6172200"/>
            <a:ext cx="1218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Diodrum Arabic" pitchFamily="34" charset="0"/>
                <a:ea typeface="Diodrum Arabic" pitchFamily="34" charset="-122"/>
                <a:cs typeface="Diodrum Arabic" pitchFamily="34" charset="-120"/>
              </a:rPr>
              <a:t>SAR.COM.SA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Saudi Arabia Railways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SAR Passengers' Security Checking: Scope, Schedule L2 and Cash Flow</dc:title>
  <dc:subject>PptxGenJS Presentation</dc:subject>
  <dc:creator>ETECHS</dc:creator>
  <cp:lastModifiedBy>ETECHS</cp:lastModifiedBy>
  <cp:revision>1</cp:revision>
  <dcterms:created xsi:type="dcterms:W3CDTF">2026-10-06T06:41:28Z</dcterms:created>
  <dcterms:modified xsi:type="dcterms:W3CDTF">2026-10-06T06:41:28Z</dcterms:modified>
</cp:coreProperties>
</file>